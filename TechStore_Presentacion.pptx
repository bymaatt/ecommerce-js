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 y="0"/>
            <a:ext cx="12024360" cy="9144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1005840"/>
            <a:ext cx="2286000" cy="1828800"/>
          </a:xfrm>
          <a:prstGeom prst="rect">
            <a:avLst/>
          </a:prstGeom>
          <a:noFill/>
        </p:spPr>
        <p:txBody>
          <a:bodyPr wrap="square">
            <a:spAutoFit/>
          </a:bodyPr>
          <a:lstStyle/>
          <a:p>
            <a:pPr algn="ctr"/>
            <a:r>
              <a:rPr sz="7200" b="0" i="0">
                <a:solidFill>
                  <a:srgbClr val="FFFFFF"/>
                </a:solidFill>
                <a:latin typeface="Segoe UI"/>
              </a:rPr>
              <a:t>🛒</a:t>
            </a:r>
          </a:p>
        </p:txBody>
      </p:sp>
      <p:sp>
        <p:nvSpPr>
          <p:cNvPr id="6" name="TextBox 5"/>
          <p:cNvSpPr txBox="1"/>
          <p:nvPr/>
        </p:nvSpPr>
        <p:spPr>
          <a:xfrm>
            <a:off x="3840480" y="1097280"/>
            <a:ext cx="7772400" cy="1280160"/>
          </a:xfrm>
          <a:prstGeom prst="rect">
            <a:avLst/>
          </a:prstGeom>
          <a:noFill/>
        </p:spPr>
        <p:txBody>
          <a:bodyPr wrap="square">
            <a:spAutoFit/>
          </a:bodyPr>
          <a:lstStyle/>
          <a:p>
            <a:pPr algn="l"/>
            <a:r>
              <a:rPr sz="6400" b="1" i="0">
                <a:solidFill>
                  <a:srgbClr val="FFFFFF"/>
                </a:solidFill>
                <a:latin typeface="Segoe UI"/>
              </a:rPr>
              <a:t>TechStore</a:t>
            </a:r>
          </a:p>
        </p:txBody>
      </p:sp>
      <p:sp>
        <p:nvSpPr>
          <p:cNvPr id="7" name="Rectangle 6"/>
          <p:cNvSpPr/>
          <p:nvPr/>
        </p:nvSpPr>
        <p:spPr>
          <a:xfrm>
            <a:off x="3840480" y="2468880"/>
            <a:ext cx="5029200" cy="9144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840480" y="2606040"/>
            <a:ext cx="7772400" cy="594360"/>
          </a:xfrm>
          <a:prstGeom prst="rect">
            <a:avLst/>
          </a:prstGeom>
          <a:noFill/>
        </p:spPr>
        <p:txBody>
          <a:bodyPr wrap="square">
            <a:spAutoFit/>
          </a:bodyPr>
          <a:lstStyle/>
          <a:p>
            <a:pPr algn="l"/>
            <a:r>
              <a:rPr sz="2600" b="0" i="0">
                <a:solidFill>
                  <a:srgbClr val="CCCCDD"/>
                </a:solidFill>
                <a:latin typeface="Segoe UI"/>
              </a:rPr>
              <a:t>Simulador de Compras</a:t>
            </a:r>
          </a:p>
        </p:txBody>
      </p:sp>
      <p:sp>
        <p:nvSpPr>
          <p:cNvPr id="9" name="Rectangle 8"/>
          <p:cNvSpPr/>
          <p:nvPr/>
        </p:nvSpPr>
        <p:spPr>
          <a:xfrm>
            <a:off x="3840480" y="3337560"/>
            <a:ext cx="1508760" cy="347472"/>
          </a:xfrm>
          <a:prstGeom prst="rect">
            <a:avLst/>
          </a:prstGeom>
          <a:solidFill>
            <a:srgbClr val="E34F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86200" y="3364992"/>
            <a:ext cx="1463040" cy="301752"/>
          </a:xfrm>
          <a:prstGeom prst="rect">
            <a:avLst/>
          </a:prstGeom>
          <a:noFill/>
        </p:spPr>
        <p:txBody>
          <a:bodyPr wrap="square">
            <a:spAutoFit/>
          </a:bodyPr>
          <a:lstStyle/>
          <a:p>
            <a:pPr algn="ctr"/>
            <a:r>
              <a:rPr sz="1100" b="1" i="0">
                <a:solidFill>
                  <a:srgbClr val="FFFFFF"/>
                </a:solidFill>
                <a:latin typeface="Segoe UI"/>
              </a:rPr>
              <a:t>HTML5</a:t>
            </a:r>
          </a:p>
        </p:txBody>
      </p:sp>
      <p:sp>
        <p:nvSpPr>
          <p:cNvPr id="11" name="Rectangle 10"/>
          <p:cNvSpPr/>
          <p:nvPr/>
        </p:nvSpPr>
        <p:spPr>
          <a:xfrm>
            <a:off x="5504688" y="3337560"/>
            <a:ext cx="1508760" cy="347472"/>
          </a:xfrm>
          <a:prstGeom prst="rect">
            <a:avLst/>
          </a:prstGeom>
          <a:solidFill>
            <a:srgbClr val="1572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50408" y="3364992"/>
            <a:ext cx="1463040" cy="301752"/>
          </a:xfrm>
          <a:prstGeom prst="rect">
            <a:avLst/>
          </a:prstGeom>
          <a:noFill/>
        </p:spPr>
        <p:txBody>
          <a:bodyPr wrap="square">
            <a:spAutoFit/>
          </a:bodyPr>
          <a:lstStyle/>
          <a:p>
            <a:pPr algn="ctr"/>
            <a:r>
              <a:rPr sz="1100" b="1" i="0">
                <a:solidFill>
                  <a:srgbClr val="FFFFFF"/>
                </a:solidFill>
                <a:latin typeface="Segoe UI"/>
              </a:rPr>
              <a:t>CSS3</a:t>
            </a:r>
          </a:p>
        </p:txBody>
      </p:sp>
      <p:sp>
        <p:nvSpPr>
          <p:cNvPr id="13" name="Rectangle 12"/>
          <p:cNvSpPr/>
          <p:nvPr/>
        </p:nvSpPr>
        <p:spPr>
          <a:xfrm>
            <a:off x="7168896" y="3337560"/>
            <a:ext cx="1508760" cy="347472"/>
          </a:xfrm>
          <a:prstGeom prst="rect">
            <a:avLst/>
          </a:prstGeom>
          <a:solidFill>
            <a:srgbClr val="F0D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14616" y="3364992"/>
            <a:ext cx="1463040" cy="301752"/>
          </a:xfrm>
          <a:prstGeom prst="rect">
            <a:avLst/>
          </a:prstGeom>
          <a:noFill/>
        </p:spPr>
        <p:txBody>
          <a:bodyPr wrap="square">
            <a:spAutoFit/>
          </a:bodyPr>
          <a:lstStyle/>
          <a:p>
            <a:pPr algn="ctr"/>
            <a:r>
              <a:rPr sz="1100" b="1" i="0">
                <a:solidFill>
                  <a:srgbClr val="1A1A2E"/>
                </a:solidFill>
                <a:latin typeface="Segoe UI"/>
              </a:rPr>
              <a:t>JavaScript</a:t>
            </a:r>
          </a:p>
        </p:txBody>
      </p:sp>
      <p:sp>
        <p:nvSpPr>
          <p:cNvPr id="15" name="Rectangle 14"/>
          <p:cNvSpPr/>
          <p:nvPr/>
        </p:nvSpPr>
        <p:spPr>
          <a:xfrm>
            <a:off x="8833104" y="3337560"/>
            <a:ext cx="1508760" cy="347472"/>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78824" y="3364992"/>
            <a:ext cx="1463040" cy="301752"/>
          </a:xfrm>
          <a:prstGeom prst="rect">
            <a:avLst/>
          </a:prstGeom>
          <a:noFill/>
        </p:spPr>
        <p:txBody>
          <a:bodyPr wrap="square">
            <a:spAutoFit/>
          </a:bodyPr>
          <a:lstStyle/>
          <a:p>
            <a:pPr algn="ctr"/>
            <a:r>
              <a:rPr sz="1100" b="1" i="0">
                <a:solidFill>
                  <a:srgbClr val="FFFFFF"/>
                </a:solidFill>
                <a:latin typeface="Segoe UI"/>
              </a:rPr>
              <a:t>Toastify JS</a:t>
            </a:r>
          </a:p>
        </p:txBody>
      </p:sp>
      <p:sp>
        <p:nvSpPr>
          <p:cNvPr id="17" name="Rectangle 16"/>
          <p:cNvSpPr/>
          <p:nvPr/>
        </p:nvSpPr>
        <p:spPr>
          <a:xfrm>
            <a:off x="10497312" y="3337560"/>
            <a:ext cx="1508760" cy="347472"/>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43032" y="3364992"/>
            <a:ext cx="1463040" cy="301752"/>
          </a:xfrm>
          <a:prstGeom prst="rect">
            <a:avLst/>
          </a:prstGeom>
          <a:noFill/>
        </p:spPr>
        <p:txBody>
          <a:bodyPr wrap="square">
            <a:spAutoFit/>
          </a:bodyPr>
          <a:lstStyle/>
          <a:p>
            <a:pPr algn="ctr"/>
            <a:r>
              <a:rPr sz="1100" b="1" i="0">
                <a:solidFill>
                  <a:srgbClr val="FFFFFF"/>
                </a:solidFill>
                <a:latin typeface="Segoe UI"/>
              </a:rPr>
              <a:t>Fetch API</a:t>
            </a:r>
          </a:p>
        </p:txBody>
      </p:sp>
      <p:sp>
        <p:nvSpPr>
          <p:cNvPr id="19" name="TextBox 18"/>
          <p:cNvSpPr txBox="1"/>
          <p:nvPr/>
        </p:nvSpPr>
        <p:spPr>
          <a:xfrm>
            <a:off x="3840480" y="3886200"/>
            <a:ext cx="8229600" cy="457200"/>
          </a:xfrm>
          <a:prstGeom prst="rect">
            <a:avLst/>
          </a:prstGeom>
          <a:noFill/>
        </p:spPr>
        <p:txBody>
          <a:bodyPr wrap="square">
            <a:spAutoFit/>
          </a:bodyPr>
          <a:lstStyle/>
          <a:p>
            <a:pPr algn="l"/>
            <a:r>
              <a:rPr sz="1600" b="0" i="0">
                <a:solidFill>
                  <a:srgbClr val="8888AA"/>
                </a:solidFill>
                <a:latin typeface="Segoe UI"/>
              </a:rPr>
              <a:t>Proyecto Final — Curso JavaScript Frontend</a:t>
            </a:r>
          </a:p>
        </p:txBody>
      </p:sp>
      <p:sp>
        <p:nvSpPr>
          <p:cNvPr id="20" name="Rectangle 19"/>
          <p:cNvSpPr/>
          <p:nvPr/>
        </p:nvSpPr>
        <p:spPr>
          <a:xfrm>
            <a:off x="164592" y="6217920"/>
            <a:ext cx="12024360" cy="6400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6272784"/>
            <a:ext cx="10972800" cy="457200"/>
          </a:xfrm>
          <a:prstGeom prst="rect">
            <a:avLst/>
          </a:prstGeom>
          <a:noFill/>
        </p:spPr>
        <p:txBody>
          <a:bodyPr wrap="square">
            <a:spAutoFit/>
          </a:bodyPr>
          <a:lstStyle/>
          <a:p>
            <a:pPr algn="l"/>
            <a:r>
              <a:rPr sz="1500" b="0" i="0">
                <a:solidFill>
                  <a:srgbClr val="FFFFFF"/>
                </a:solidFill>
                <a:latin typeface="Segoe UI"/>
              </a:rPr>
              <a:t>Mattias Maciel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716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71600"/>
            <a:ext cx="12188952" cy="73152"/>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82880"/>
            <a:ext cx="10972800" cy="822960"/>
          </a:xfrm>
          <a:prstGeom prst="rect">
            <a:avLst/>
          </a:prstGeom>
          <a:noFill/>
        </p:spPr>
        <p:txBody>
          <a:bodyPr wrap="square">
            <a:spAutoFit/>
          </a:bodyPr>
          <a:lstStyle/>
          <a:p>
            <a:pPr algn="l"/>
            <a:r>
              <a:rPr sz="3200" b="1" i="0">
                <a:solidFill>
                  <a:srgbClr val="FFFFFF"/>
                </a:solidFill>
                <a:latin typeface="Segoe UI"/>
              </a:rPr>
              <a:t>Proyecto / Contexto</a:t>
            </a:r>
          </a:p>
        </p:txBody>
      </p:sp>
      <p:sp>
        <p:nvSpPr>
          <p:cNvPr id="6" name="TextBox 5"/>
          <p:cNvSpPr txBox="1"/>
          <p:nvPr/>
        </p:nvSpPr>
        <p:spPr>
          <a:xfrm>
            <a:off x="457200" y="868680"/>
            <a:ext cx="10972800" cy="502920"/>
          </a:xfrm>
          <a:prstGeom prst="rect">
            <a:avLst/>
          </a:prstGeom>
          <a:noFill/>
        </p:spPr>
        <p:txBody>
          <a:bodyPr wrap="square">
            <a:spAutoFit/>
          </a:bodyPr>
          <a:lstStyle/>
          <a:p>
            <a:pPr algn="l"/>
            <a:r>
              <a:rPr sz="1500" b="0" i="0">
                <a:solidFill>
                  <a:srgbClr val="CCCCDD"/>
                </a:solidFill>
                <a:latin typeface="Segoe UI"/>
              </a:rPr>
              <a:t>¿Qué es TechStore y qué problema resuelve?</a:t>
            </a:r>
          </a:p>
        </p:txBody>
      </p:sp>
      <p:sp>
        <p:nvSpPr>
          <p:cNvPr id="7" name="Rectangle 6"/>
          <p:cNvSpPr/>
          <p:nvPr/>
        </p:nvSpPr>
        <p:spPr>
          <a:xfrm>
            <a:off x="411480" y="1600200"/>
            <a:ext cx="5303520" cy="4297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600200"/>
            <a:ext cx="5303520" cy="54864"/>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664208"/>
            <a:ext cx="4937760" cy="457200"/>
          </a:xfrm>
          <a:prstGeom prst="rect">
            <a:avLst/>
          </a:prstGeom>
          <a:noFill/>
        </p:spPr>
        <p:txBody>
          <a:bodyPr wrap="square">
            <a:spAutoFit/>
          </a:bodyPr>
          <a:lstStyle/>
          <a:p>
            <a:pPr algn="l"/>
            <a:r>
              <a:rPr sz="1600" b="1" i="0">
                <a:solidFill>
                  <a:srgbClr val="1A1A2E"/>
                </a:solidFill>
                <a:latin typeface="Segoe UI"/>
              </a:rPr>
              <a:t>¿Qué es?</a:t>
            </a:r>
          </a:p>
        </p:txBody>
      </p:sp>
      <p:sp>
        <p:nvSpPr>
          <p:cNvPr id="10" name="TextBox 9"/>
          <p:cNvSpPr txBox="1"/>
          <p:nvPr/>
        </p:nvSpPr>
        <p:spPr>
          <a:xfrm>
            <a:off x="594360" y="2103120"/>
            <a:ext cx="4937760" cy="1828800"/>
          </a:xfrm>
          <a:prstGeom prst="rect">
            <a:avLst/>
          </a:prstGeom>
          <a:noFill/>
        </p:spPr>
        <p:txBody>
          <a:bodyPr wrap="square">
            <a:spAutoFit/>
          </a:bodyPr>
          <a:lstStyle/>
          <a:p>
            <a:pPr algn="l"/>
            <a:r>
              <a:rPr sz="1350" b="0" i="0">
                <a:solidFill>
                  <a:srgbClr val="666666"/>
                </a:solidFill>
                <a:latin typeface="Segoe UI"/>
              </a:rPr>
              <a:t>TechStore es un simulador interactivo de tienda de tecnología que replica el flujo completo de una compra online, desde el catálogo hasta la confirmación del pedido, utilizando únicamente JavaScript vanilla, HTML y CSS.</a:t>
            </a:r>
          </a:p>
        </p:txBody>
      </p:sp>
      <p:sp>
        <p:nvSpPr>
          <p:cNvPr id="11" name="TextBox 10"/>
          <p:cNvSpPr txBox="1"/>
          <p:nvPr/>
        </p:nvSpPr>
        <p:spPr>
          <a:xfrm>
            <a:off x="594360" y="3520440"/>
            <a:ext cx="4937760" cy="457200"/>
          </a:xfrm>
          <a:prstGeom prst="rect">
            <a:avLst/>
          </a:prstGeom>
          <a:noFill/>
        </p:spPr>
        <p:txBody>
          <a:bodyPr wrap="square">
            <a:spAutoFit/>
          </a:bodyPr>
          <a:lstStyle/>
          <a:p>
            <a:pPr algn="l"/>
            <a:r>
              <a:rPr sz="1400" b="1" i="0">
                <a:solidFill>
                  <a:srgbClr val="1A1A2E"/>
                </a:solidFill>
                <a:latin typeface="Segoe UI"/>
              </a:rPr>
              <a:t>Proceso de negocio simulado</a:t>
            </a:r>
          </a:p>
        </p:txBody>
      </p:sp>
      <p:sp>
        <p:nvSpPr>
          <p:cNvPr id="12" name="TextBox 11"/>
          <p:cNvSpPr txBox="1"/>
          <p:nvPr/>
        </p:nvSpPr>
        <p:spPr>
          <a:xfrm>
            <a:off x="594360" y="3913632"/>
            <a:ext cx="4937760" cy="1828800"/>
          </a:xfrm>
          <a:prstGeom prst="rect">
            <a:avLst/>
          </a:prstGeom>
          <a:noFill/>
        </p:spPr>
        <p:txBody>
          <a:bodyPr wrap="square">
            <a:spAutoFit/>
          </a:bodyPr>
          <a:lstStyle/>
          <a:p>
            <a:pPr algn="l"/>
            <a:r>
              <a:rPr sz="1150">
                <a:solidFill>
                  <a:srgbClr val="E94560"/>
                </a:solidFill>
                <a:latin typeface="Segoe UI"/>
              </a:rPr>
              <a:t>● </a:t>
            </a:r>
            <a:r>
              <a:rPr sz="1250">
                <a:solidFill>
                  <a:srgbClr val="666666"/>
                </a:solidFill>
                <a:latin typeface="Segoe UI"/>
              </a:rPr>
              <a:t>Catálogo con filtros por categoría</a:t>
            </a:r>
          </a:p>
          <a:p>
            <a:pPr algn="l"/>
            <a:r>
              <a:rPr sz="1150">
                <a:solidFill>
                  <a:srgbClr val="E94560"/>
                </a:solidFill>
                <a:latin typeface="Segoe UI"/>
              </a:rPr>
              <a:t>● </a:t>
            </a:r>
            <a:r>
              <a:rPr sz="1250">
                <a:solidFill>
                  <a:srgbClr val="666666"/>
                </a:solidFill>
                <a:latin typeface="Segoe UI"/>
              </a:rPr>
              <a:t>Carrito lateral + página de carrito</a:t>
            </a:r>
          </a:p>
          <a:p>
            <a:pPr algn="l"/>
            <a:r>
              <a:rPr sz="1150">
                <a:solidFill>
                  <a:srgbClr val="E94560"/>
                </a:solidFill>
                <a:latin typeface="Segoe UI"/>
              </a:rPr>
              <a:t>● </a:t>
            </a:r>
            <a:r>
              <a:rPr sz="1250">
                <a:solidFill>
                  <a:srgbClr val="666666"/>
                </a:solidFill>
                <a:latin typeface="Segoe UI"/>
              </a:rPr>
              <a:t>Formulario de envío con validación</a:t>
            </a:r>
          </a:p>
          <a:p>
            <a:pPr algn="l"/>
            <a:r>
              <a:rPr sz="1150">
                <a:solidFill>
                  <a:srgbClr val="E94560"/>
                </a:solidFill>
                <a:latin typeface="Segoe UI"/>
              </a:rPr>
              <a:t>● </a:t>
            </a:r>
            <a:r>
              <a:rPr sz="1250">
                <a:solidFill>
                  <a:srgbClr val="666666"/>
                </a:solidFill>
                <a:latin typeface="Segoe UI"/>
              </a:rPr>
              <a:t>Selección de método de pago</a:t>
            </a:r>
          </a:p>
          <a:p>
            <a:pPr algn="l"/>
            <a:r>
              <a:rPr sz="1150">
                <a:solidFill>
                  <a:srgbClr val="E94560"/>
                </a:solidFill>
                <a:latin typeface="Segoe UI"/>
              </a:rPr>
              <a:t>● </a:t>
            </a:r>
            <a:r>
              <a:rPr sz="1250">
                <a:solidFill>
                  <a:srgbClr val="666666"/>
                </a:solidFill>
                <a:latin typeface="Segoe UI"/>
              </a:rPr>
              <a:t>Resumen y confirmación del pedido</a:t>
            </a:r>
          </a:p>
          <a:p>
            <a:pPr algn="l"/>
            <a:r>
              <a:rPr sz="1150">
                <a:solidFill>
                  <a:srgbClr val="E94560"/>
                </a:solidFill>
                <a:latin typeface="Segoe UI"/>
              </a:rPr>
              <a:t>● </a:t>
            </a:r>
            <a:r>
              <a:rPr sz="1250">
                <a:solidFill>
                  <a:srgbClr val="666666"/>
                </a:solidFill>
                <a:latin typeface="Segoe UI"/>
              </a:rPr>
              <a:t>Pantalla de compra exitosa</a:t>
            </a:r>
          </a:p>
        </p:txBody>
      </p:sp>
      <p:sp>
        <p:nvSpPr>
          <p:cNvPr id="13" name="Rectangle 12"/>
          <p:cNvSpPr/>
          <p:nvPr/>
        </p:nvSpPr>
        <p:spPr>
          <a:xfrm>
            <a:off x="5989320" y="1600200"/>
            <a:ext cx="5760720" cy="2423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989320" y="1600200"/>
            <a:ext cx="5760720" cy="54864"/>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72200" y="1664208"/>
            <a:ext cx="5394960" cy="457200"/>
          </a:xfrm>
          <a:prstGeom prst="rect">
            <a:avLst/>
          </a:prstGeom>
          <a:noFill/>
        </p:spPr>
        <p:txBody>
          <a:bodyPr wrap="square">
            <a:spAutoFit/>
          </a:bodyPr>
          <a:lstStyle/>
          <a:p>
            <a:pPr algn="l"/>
            <a:r>
              <a:rPr sz="1500" b="1" i="0">
                <a:solidFill>
                  <a:srgbClr val="1A1A2E"/>
                </a:solidFill>
                <a:latin typeface="Segoe UI"/>
              </a:rPr>
              <a:t>Estructura del proyecto</a:t>
            </a:r>
          </a:p>
        </p:txBody>
      </p:sp>
      <p:sp>
        <p:nvSpPr>
          <p:cNvPr id="16" name="Rectangle 15"/>
          <p:cNvSpPr/>
          <p:nvPr/>
        </p:nvSpPr>
        <p:spPr>
          <a:xfrm>
            <a:off x="5989320" y="2148840"/>
            <a:ext cx="5760720" cy="18288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989320" y="2148840"/>
            <a:ext cx="64008" cy="182880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26480" y="2286000"/>
            <a:ext cx="5532120" cy="1554480"/>
          </a:xfrm>
          <a:prstGeom prst="rect">
            <a:avLst/>
          </a:prstGeom>
          <a:noFill/>
        </p:spPr>
        <p:txBody>
          <a:bodyPr wrap="none">
            <a:spAutoFit/>
          </a:bodyPr>
          <a:lstStyle/>
          <a:p>
            <a:pPr algn="l"/>
            <a:r>
              <a:rPr sz="1200">
                <a:solidFill>
                  <a:srgbClr val="C8E0FF"/>
                </a:solidFill>
                <a:latin typeface="Consolas"/>
              </a:rPr>
              <a:t>ecommerce-js/</a:t>
            </a:r>
          </a:p>
          <a:p>
            <a:pPr algn="l"/>
            <a:r>
              <a:rPr sz="1200">
                <a:solidFill>
                  <a:srgbClr val="C8E0FF"/>
                </a:solidFill>
                <a:latin typeface="Consolas"/>
              </a:rPr>
              <a:t>├── index.html</a:t>
            </a:r>
          </a:p>
          <a:p>
            <a:pPr algn="l"/>
            <a:r>
              <a:rPr sz="1200">
                <a:solidFill>
                  <a:srgbClr val="C8E0FF"/>
                </a:solidFill>
                <a:latin typeface="Consolas"/>
              </a:rPr>
              <a:t>├── css/</a:t>
            </a:r>
          </a:p>
          <a:p>
            <a:pPr algn="l"/>
            <a:r>
              <a:rPr sz="1200">
                <a:solidFill>
                  <a:srgbClr val="C8E0FF"/>
                </a:solidFill>
                <a:latin typeface="Consolas"/>
              </a:rPr>
              <a:t>│   └── style.css</a:t>
            </a:r>
          </a:p>
          <a:p>
            <a:pPr algn="l"/>
            <a:r>
              <a:rPr sz="1200">
                <a:solidFill>
                  <a:srgbClr val="C8E0FF"/>
                </a:solidFill>
                <a:latin typeface="Consolas"/>
              </a:rPr>
              <a:t>├── js/</a:t>
            </a:r>
          </a:p>
          <a:p>
            <a:pPr algn="l"/>
            <a:r>
              <a:rPr sz="1200">
                <a:solidFill>
                  <a:srgbClr val="C8E0FF"/>
                </a:solidFill>
                <a:latin typeface="Consolas"/>
              </a:rPr>
              <a:t>│   └── app.js</a:t>
            </a:r>
          </a:p>
          <a:p>
            <a:pPr algn="l"/>
            <a:r>
              <a:rPr sz="1200">
                <a:solidFill>
                  <a:srgbClr val="C8E0FF"/>
                </a:solidFill>
                <a:latin typeface="Consolas"/>
              </a:rPr>
              <a:t>└── data/</a:t>
            </a:r>
          </a:p>
          <a:p>
            <a:pPr algn="l"/>
            <a:r>
              <a:rPr sz="1200">
                <a:solidFill>
                  <a:srgbClr val="C8E0FF"/>
                </a:solidFill>
                <a:latin typeface="Consolas"/>
              </a:rPr>
              <a:t>    └── products.json</a:t>
            </a:r>
          </a:p>
        </p:txBody>
      </p:sp>
      <p:sp>
        <p:nvSpPr>
          <p:cNvPr id="19" name="Rectangle 18"/>
          <p:cNvSpPr/>
          <p:nvPr/>
        </p:nvSpPr>
        <p:spPr>
          <a:xfrm>
            <a:off x="5989320" y="4114800"/>
            <a:ext cx="5760720" cy="1737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989320" y="4114800"/>
            <a:ext cx="5760720" cy="54864"/>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72200" y="4178808"/>
            <a:ext cx="5394960" cy="411480"/>
          </a:xfrm>
          <a:prstGeom prst="rect">
            <a:avLst/>
          </a:prstGeom>
          <a:noFill/>
        </p:spPr>
        <p:txBody>
          <a:bodyPr wrap="square">
            <a:spAutoFit/>
          </a:bodyPr>
          <a:lstStyle/>
          <a:p>
            <a:pPr algn="l"/>
            <a:r>
              <a:rPr sz="1500" b="1" i="0">
                <a:solidFill>
                  <a:srgbClr val="1A1A2E"/>
                </a:solidFill>
                <a:latin typeface="Segoe UI"/>
              </a:rPr>
              <a:t>Flujo de pantallas (SPA)</a:t>
            </a:r>
          </a:p>
        </p:txBody>
      </p:sp>
      <p:sp>
        <p:nvSpPr>
          <p:cNvPr id="22" name="Rectangle 21"/>
          <p:cNvSpPr/>
          <p:nvPr/>
        </p:nvSpPr>
        <p:spPr>
          <a:xfrm>
            <a:off x="6172200" y="4663440"/>
            <a:ext cx="804672" cy="347472"/>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81344" y="4681728"/>
            <a:ext cx="795528" cy="310896"/>
          </a:xfrm>
          <a:prstGeom prst="rect">
            <a:avLst/>
          </a:prstGeom>
          <a:noFill/>
        </p:spPr>
        <p:txBody>
          <a:bodyPr wrap="square">
            <a:spAutoFit/>
          </a:bodyPr>
          <a:lstStyle/>
          <a:p>
            <a:pPr algn="ctr"/>
            <a:r>
              <a:rPr sz="950" b="1" i="0">
                <a:solidFill>
                  <a:srgbClr val="FFFFFF"/>
                </a:solidFill>
                <a:latin typeface="Segoe UI"/>
              </a:rPr>
              <a:t>1 Productos</a:t>
            </a:r>
          </a:p>
        </p:txBody>
      </p:sp>
      <p:sp>
        <p:nvSpPr>
          <p:cNvPr id="24" name="TextBox 23"/>
          <p:cNvSpPr txBox="1"/>
          <p:nvPr/>
        </p:nvSpPr>
        <p:spPr>
          <a:xfrm>
            <a:off x="6967728" y="4690872"/>
            <a:ext cx="109728" cy="310896"/>
          </a:xfrm>
          <a:prstGeom prst="rect">
            <a:avLst/>
          </a:prstGeom>
          <a:noFill/>
        </p:spPr>
        <p:txBody>
          <a:bodyPr wrap="square">
            <a:spAutoFit/>
          </a:bodyPr>
          <a:lstStyle/>
          <a:p>
            <a:pPr algn="l"/>
            <a:r>
              <a:rPr sz="1000" b="1" i="0">
                <a:solidFill>
                  <a:srgbClr val="666666"/>
                </a:solidFill>
                <a:latin typeface="Segoe UI"/>
              </a:rPr>
              <a:t>→</a:t>
            </a:r>
          </a:p>
        </p:txBody>
      </p:sp>
      <p:sp>
        <p:nvSpPr>
          <p:cNvPr id="25" name="Rectangle 24"/>
          <p:cNvSpPr/>
          <p:nvPr/>
        </p:nvSpPr>
        <p:spPr>
          <a:xfrm>
            <a:off x="7068312" y="4663440"/>
            <a:ext cx="804672" cy="347472"/>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77456" y="4681728"/>
            <a:ext cx="795528" cy="310896"/>
          </a:xfrm>
          <a:prstGeom prst="rect">
            <a:avLst/>
          </a:prstGeom>
          <a:noFill/>
        </p:spPr>
        <p:txBody>
          <a:bodyPr wrap="square">
            <a:spAutoFit/>
          </a:bodyPr>
          <a:lstStyle/>
          <a:p>
            <a:pPr algn="ctr"/>
            <a:r>
              <a:rPr sz="950" b="1" i="0">
                <a:solidFill>
                  <a:srgbClr val="FFFFFF"/>
                </a:solidFill>
                <a:latin typeface="Segoe UI"/>
              </a:rPr>
              <a:t>2 Carrito</a:t>
            </a:r>
          </a:p>
        </p:txBody>
      </p:sp>
      <p:sp>
        <p:nvSpPr>
          <p:cNvPr id="27" name="TextBox 26"/>
          <p:cNvSpPr txBox="1"/>
          <p:nvPr/>
        </p:nvSpPr>
        <p:spPr>
          <a:xfrm>
            <a:off x="7863840" y="4690872"/>
            <a:ext cx="109728" cy="310896"/>
          </a:xfrm>
          <a:prstGeom prst="rect">
            <a:avLst/>
          </a:prstGeom>
          <a:noFill/>
        </p:spPr>
        <p:txBody>
          <a:bodyPr wrap="square">
            <a:spAutoFit/>
          </a:bodyPr>
          <a:lstStyle/>
          <a:p>
            <a:pPr algn="l"/>
            <a:r>
              <a:rPr sz="1000" b="1" i="0">
                <a:solidFill>
                  <a:srgbClr val="666666"/>
                </a:solidFill>
                <a:latin typeface="Segoe UI"/>
              </a:rPr>
              <a:t>→</a:t>
            </a:r>
          </a:p>
        </p:txBody>
      </p:sp>
      <p:sp>
        <p:nvSpPr>
          <p:cNvPr id="28" name="Rectangle 27"/>
          <p:cNvSpPr/>
          <p:nvPr/>
        </p:nvSpPr>
        <p:spPr>
          <a:xfrm>
            <a:off x="7964424" y="4663440"/>
            <a:ext cx="804672" cy="347472"/>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73568" y="4681728"/>
            <a:ext cx="795528" cy="310896"/>
          </a:xfrm>
          <a:prstGeom prst="rect">
            <a:avLst/>
          </a:prstGeom>
          <a:noFill/>
        </p:spPr>
        <p:txBody>
          <a:bodyPr wrap="square">
            <a:spAutoFit/>
          </a:bodyPr>
          <a:lstStyle/>
          <a:p>
            <a:pPr algn="ctr"/>
            <a:r>
              <a:rPr sz="950" b="1" i="0">
                <a:solidFill>
                  <a:srgbClr val="FFFFFF"/>
                </a:solidFill>
                <a:latin typeface="Segoe UI"/>
              </a:rPr>
              <a:t>3 Datos</a:t>
            </a:r>
          </a:p>
        </p:txBody>
      </p:sp>
      <p:sp>
        <p:nvSpPr>
          <p:cNvPr id="30" name="TextBox 29"/>
          <p:cNvSpPr txBox="1"/>
          <p:nvPr/>
        </p:nvSpPr>
        <p:spPr>
          <a:xfrm>
            <a:off x="8759952" y="4690872"/>
            <a:ext cx="109728" cy="310896"/>
          </a:xfrm>
          <a:prstGeom prst="rect">
            <a:avLst/>
          </a:prstGeom>
          <a:noFill/>
        </p:spPr>
        <p:txBody>
          <a:bodyPr wrap="square">
            <a:spAutoFit/>
          </a:bodyPr>
          <a:lstStyle/>
          <a:p>
            <a:pPr algn="l"/>
            <a:r>
              <a:rPr sz="1000" b="1" i="0">
                <a:solidFill>
                  <a:srgbClr val="666666"/>
                </a:solidFill>
                <a:latin typeface="Segoe UI"/>
              </a:rPr>
              <a:t>→</a:t>
            </a:r>
          </a:p>
        </p:txBody>
      </p:sp>
      <p:sp>
        <p:nvSpPr>
          <p:cNvPr id="31" name="Rectangle 30"/>
          <p:cNvSpPr/>
          <p:nvPr/>
        </p:nvSpPr>
        <p:spPr>
          <a:xfrm>
            <a:off x="8860536" y="4663440"/>
            <a:ext cx="804672" cy="347472"/>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0" y="4681728"/>
            <a:ext cx="795528" cy="310896"/>
          </a:xfrm>
          <a:prstGeom prst="rect">
            <a:avLst/>
          </a:prstGeom>
          <a:noFill/>
        </p:spPr>
        <p:txBody>
          <a:bodyPr wrap="square">
            <a:spAutoFit/>
          </a:bodyPr>
          <a:lstStyle/>
          <a:p>
            <a:pPr algn="ctr"/>
            <a:r>
              <a:rPr sz="950" b="1" i="0">
                <a:solidFill>
                  <a:srgbClr val="FFFFFF"/>
                </a:solidFill>
                <a:latin typeface="Segoe UI"/>
              </a:rPr>
              <a:t>4 Pago</a:t>
            </a:r>
          </a:p>
        </p:txBody>
      </p:sp>
      <p:sp>
        <p:nvSpPr>
          <p:cNvPr id="33" name="TextBox 32"/>
          <p:cNvSpPr txBox="1"/>
          <p:nvPr/>
        </p:nvSpPr>
        <p:spPr>
          <a:xfrm>
            <a:off x="9656063" y="4690872"/>
            <a:ext cx="109728" cy="310896"/>
          </a:xfrm>
          <a:prstGeom prst="rect">
            <a:avLst/>
          </a:prstGeom>
          <a:noFill/>
        </p:spPr>
        <p:txBody>
          <a:bodyPr wrap="square">
            <a:spAutoFit/>
          </a:bodyPr>
          <a:lstStyle/>
          <a:p>
            <a:pPr algn="l"/>
            <a:r>
              <a:rPr sz="1000" b="1" i="0">
                <a:solidFill>
                  <a:srgbClr val="666666"/>
                </a:solidFill>
                <a:latin typeface="Segoe UI"/>
              </a:rPr>
              <a:t>→</a:t>
            </a:r>
          </a:p>
        </p:txBody>
      </p:sp>
      <p:sp>
        <p:nvSpPr>
          <p:cNvPr id="34" name="Rectangle 33"/>
          <p:cNvSpPr/>
          <p:nvPr/>
        </p:nvSpPr>
        <p:spPr>
          <a:xfrm>
            <a:off x="9756648" y="4663440"/>
            <a:ext cx="804672" cy="347472"/>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765792" y="4681728"/>
            <a:ext cx="795528" cy="310896"/>
          </a:xfrm>
          <a:prstGeom prst="rect">
            <a:avLst/>
          </a:prstGeom>
          <a:noFill/>
        </p:spPr>
        <p:txBody>
          <a:bodyPr wrap="square">
            <a:spAutoFit/>
          </a:bodyPr>
          <a:lstStyle/>
          <a:p>
            <a:pPr algn="ctr"/>
            <a:r>
              <a:rPr sz="950" b="1" i="0">
                <a:solidFill>
                  <a:srgbClr val="FFFFFF"/>
                </a:solidFill>
                <a:latin typeface="Segoe UI"/>
              </a:rPr>
              <a:t>5 Confirmar</a:t>
            </a:r>
          </a:p>
        </p:txBody>
      </p:sp>
      <p:sp>
        <p:nvSpPr>
          <p:cNvPr id="36" name="TextBox 35"/>
          <p:cNvSpPr txBox="1"/>
          <p:nvPr/>
        </p:nvSpPr>
        <p:spPr>
          <a:xfrm>
            <a:off x="10552176" y="4690872"/>
            <a:ext cx="109728" cy="310896"/>
          </a:xfrm>
          <a:prstGeom prst="rect">
            <a:avLst/>
          </a:prstGeom>
          <a:noFill/>
        </p:spPr>
        <p:txBody>
          <a:bodyPr wrap="square">
            <a:spAutoFit/>
          </a:bodyPr>
          <a:lstStyle/>
          <a:p>
            <a:pPr algn="l"/>
            <a:r>
              <a:rPr sz="1000" b="1" i="0">
                <a:solidFill>
                  <a:srgbClr val="666666"/>
                </a:solidFill>
                <a:latin typeface="Segoe UI"/>
              </a:rPr>
              <a:t>→</a:t>
            </a:r>
          </a:p>
        </p:txBody>
      </p:sp>
      <p:sp>
        <p:nvSpPr>
          <p:cNvPr id="37" name="Rectangle 36"/>
          <p:cNvSpPr/>
          <p:nvPr/>
        </p:nvSpPr>
        <p:spPr>
          <a:xfrm>
            <a:off x="10652760" y="4663440"/>
            <a:ext cx="804672" cy="347472"/>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661904" y="4681728"/>
            <a:ext cx="795528" cy="310896"/>
          </a:xfrm>
          <a:prstGeom prst="rect">
            <a:avLst/>
          </a:prstGeom>
          <a:noFill/>
        </p:spPr>
        <p:txBody>
          <a:bodyPr wrap="square">
            <a:spAutoFit/>
          </a:bodyPr>
          <a:lstStyle/>
          <a:p>
            <a:pPr algn="ctr"/>
            <a:r>
              <a:rPr sz="950" b="1" i="0">
                <a:solidFill>
                  <a:srgbClr val="FFFFFF"/>
                </a:solidFill>
                <a:latin typeface="Segoe UI"/>
              </a:rPr>
              <a:t>6 Éxito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716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71600"/>
            <a:ext cx="12188952" cy="73152"/>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82880"/>
            <a:ext cx="10972800" cy="822960"/>
          </a:xfrm>
          <a:prstGeom prst="rect">
            <a:avLst/>
          </a:prstGeom>
          <a:noFill/>
        </p:spPr>
        <p:txBody>
          <a:bodyPr wrap="square">
            <a:spAutoFit/>
          </a:bodyPr>
          <a:lstStyle/>
          <a:p>
            <a:pPr algn="l"/>
            <a:r>
              <a:rPr sz="3200" b="1" i="0">
                <a:solidFill>
                  <a:srgbClr val="FFFFFF"/>
                </a:solidFill>
                <a:latin typeface="Segoe UI"/>
              </a:rPr>
              <a:t>Código — HTML</a:t>
            </a:r>
          </a:p>
        </p:txBody>
      </p:sp>
      <p:sp>
        <p:nvSpPr>
          <p:cNvPr id="6" name="TextBox 5"/>
          <p:cNvSpPr txBox="1"/>
          <p:nvPr/>
        </p:nvSpPr>
        <p:spPr>
          <a:xfrm>
            <a:off x="457200" y="868680"/>
            <a:ext cx="10972800" cy="502920"/>
          </a:xfrm>
          <a:prstGeom prst="rect">
            <a:avLst/>
          </a:prstGeom>
          <a:noFill/>
        </p:spPr>
        <p:txBody>
          <a:bodyPr wrap="square">
            <a:spAutoFit/>
          </a:bodyPr>
          <a:lstStyle/>
          <a:p>
            <a:pPr algn="l"/>
            <a:r>
              <a:rPr sz="1500" b="0" i="0">
                <a:solidFill>
                  <a:srgbClr val="CCCCDD"/>
                </a:solidFill>
                <a:latin typeface="Segoe UI"/>
              </a:rPr>
              <a:t>index.html  ·  SPA de 6 secciones + panel lateral</a:t>
            </a:r>
          </a:p>
        </p:txBody>
      </p:sp>
      <p:sp>
        <p:nvSpPr>
          <p:cNvPr id="7" name="TextBox 6"/>
          <p:cNvSpPr txBox="1"/>
          <p:nvPr/>
        </p:nvSpPr>
        <p:spPr>
          <a:xfrm>
            <a:off x="411480" y="1572768"/>
            <a:ext cx="6400800" cy="411480"/>
          </a:xfrm>
          <a:prstGeom prst="rect">
            <a:avLst/>
          </a:prstGeom>
          <a:noFill/>
        </p:spPr>
        <p:txBody>
          <a:bodyPr wrap="square">
            <a:spAutoFit/>
          </a:bodyPr>
          <a:lstStyle/>
          <a:p>
            <a:pPr algn="l"/>
            <a:r>
              <a:rPr sz="1400" b="1" i="0">
                <a:solidFill>
                  <a:srgbClr val="1A1A2E"/>
                </a:solidFill>
                <a:latin typeface="Segoe UI"/>
              </a:rPr>
              <a:t>Estructura principal</a:t>
            </a:r>
          </a:p>
        </p:txBody>
      </p:sp>
      <p:sp>
        <p:nvSpPr>
          <p:cNvPr id="8" name="Rectangle 7"/>
          <p:cNvSpPr/>
          <p:nvPr/>
        </p:nvSpPr>
        <p:spPr>
          <a:xfrm>
            <a:off x="411480" y="1965960"/>
            <a:ext cx="6675120" cy="4572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1965960"/>
            <a:ext cx="64008" cy="457200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103120"/>
            <a:ext cx="6446520" cy="4297680"/>
          </a:xfrm>
          <a:prstGeom prst="rect">
            <a:avLst/>
          </a:prstGeom>
          <a:noFill/>
        </p:spPr>
        <p:txBody>
          <a:bodyPr wrap="none">
            <a:spAutoFit/>
          </a:bodyPr>
          <a:lstStyle/>
          <a:p>
            <a:pPr algn="l"/>
            <a:r>
              <a:rPr sz="1050">
                <a:solidFill>
                  <a:srgbClr val="C8E0FF"/>
                </a:solidFill>
                <a:latin typeface="Consolas"/>
              </a:rPr>
              <a:t>&lt;!DOCTYPE html&gt;</a:t>
            </a:r>
          </a:p>
          <a:p>
            <a:pPr algn="l"/>
            <a:r>
              <a:rPr sz="1050">
                <a:solidFill>
                  <a:srgbClr val="C8E0FF"/>
                </a:solidFill>
                <a:latin typeface="Consolas"/>
              </a:rPr>
              <a:t>&lt;html lang="es"&gt;</a:t>
            </a:r>
          </a:p>
          <a:p>
            <a:pPr algn="l"/>
            <a:r>
              <a:rPr sz="1050">
                <a:solidFill>
                  <a:srgbClr val="C8E0FF"/>
                </a:solidFill>
                <a:latin typeface="Consolas"/>
              </a:rPr>
              <a:t>&lt;head&gt;</a:t>
            </a:r>
          </a:p>
          <a:p>
            <a:pPr algn="l"/>
            <a:r>
              <a:rPr sz="1050">
                <a:solidFill>
                  <a:srgbClr val="C8E0FF"/>
                </a:solidFill>
                <a:latin typeface="Consolas"/>
              </a:rPr>
              <a:t>  &lt;!-- Toastify CSS (librería externa) --&gt;</a:t>
            </a:r>
          </a:p>
          <a:p>
            <a:pPr algn="l"/>
            <a:r>
              <a:rPr sz="1050">
                <a:solidFill>
                  <a:srgbClr val="C8E0FF"/>
                </a:solidFill>
                <a:latin typeface="Consolas"/>
              </a:rPr>
              <a:t>  &lt;link rel="stylesheet" href=".../toastify.min.css"&gt;</a:t>
            </a:r>
          </a:p>
          <a:p>
            <a:pPr algn="l"/>
            <a:r>
              <a:rPr sz="1050">
                <a:solidFill>
                  <a:srgbClr val="C8E0FF"/>
                </a:solidFill>
                <a:latin typeface="Consolas"/>
              </a:rPr>
              <a:t>  &lt;link rel="stylesheet" href="css/style.css"&gt;</a:t>
            </a:r>
          </a:p>
          <a:p>
            <a:pPr algn="l"/>
            <a:r>
              <a:rPr sz="1050">
                <a:solidFill>
                  <a:srgbClr val="C8E0FF"/>
                </a:solidFill>
                <a:latin typeface="Consolas"/>
              </a:rPr>
              <a:t>&lt;/head&gt;</a:t>
            </a:r>
          </a:p>
          <a:p>
            <a:pPr algn="l"/>
            <a:r>
              <a:rPr sz="1050">
                <a:solidFill>
                  <a:srgbClr val="C8E0FF"/>
                </a:solidFill>
                <a:latin typeface="Consolas"/>
              </a:rPr>
              <a:t>&lt;body&gt;</a:t>
            </a:r>
          </a:p>
          <a:p>
            <a:pPr algn="l"/>
            <a:r>
              <a:rPr sz="1050">
                <a:solidFill>
                  <a:srgbClr val="C8E0FF"/>
                </a:solidFill>
                <a:latin typeface="Consolas"/>
              </a:rPr>
              <a:t>  &lt;header class="header"&gt;</a:t>
            </a:r>
          </a:p>
          <a:p>
            <a:pPr algn="l"/>
            <a:r>
              <a:rPr sz="1050">
                <a:solidFill>
                  <a:srgbClr val="C8E0FF"/>
                </a:solidFill>
                <a:latin typeface="Consolas"/>
              </a:rPr>
              <a:t>    &lt;div id="barra-pasos" class="barra-pasos"&gt;</a:t>
            </a:r>
          </a:p>
          <a:p>
            <a:pPr algn="l"/>
            <a:r>
              <a:rPr sz="1050">
                <a:solidFill>
                  <a:srgbClr val="C8E0FF"/>
                </a:solidFill>
                <a:latin typeface="Consolas"/>
              </a:rPr>
              <a:t>      &lt;!-- Pasos 1→4 del checkout --&gt;</a:t>
            </a:r>
          </a:p>
          <a:p>
            <a:pPr algn="l"/>
            <a:r>
              <a:rPr sz="1050">
                <a:solidFill>
                  <a:srgbClr val="C8E0FF"/>
                </a:solidFill>
                <a:latin typeface="Consolas"/>
              </a:rPr>
              <a:t>    &lt;/div&gt;</a:t>
            </a:r>
          </a:p>
          <a:p>
            <a:pPr algn="l"/>
            <a:r>
              <a:rPr sz="1050">
                <a:solidFill>
                  <a:srgbClr val="C8E0FF"/>
                </a:solidFill>
                <a:latin typeface="Consolas"/>
              </a:rPr>
              <a:t>  &lt;/header&gt;</a:t>
            </a:r>
          </a:p>
          <a:p>
            <a:pPr algn="l"/>
            <a:r>
              <a:rPr sz="1050">
                <a:solidFill>
                  <a:srgbClr val="C8E0FF"/>
                </a:solidFill>
                <a:latin typeface="Consolas"/>
              </a:rPr>
              <a:t>  &lt;main class="main"&gt;</a:t>
            </a:r>
          </a:p>
          <a:p>
            <a:pPr algn="l"/>
            <a:r>
              <a:rPr sz="1050">
                <a:solidFill>
                  <a:srgbClr val="C8E0FF"/>
                </a:solidFill>
                <a:latin typeface="Consolas"/>
              </a:rPr>
              <a:t>    &lt;section id="pagina-productos" class="pagina activa"&gt;</a:t>
            </a:r>
          </a:p>
          <a:p>
            <a:pPr algn="l"/>
            <a:r>
              <a:rPr sz="1050">
                <a:solidFill>
                  <a:srgbClr val="C8E0FF"/>
                </a:solidFill>
                <a:latin typeface="Consolas"/>
              </a:rPr>
              <a:t>    &lt;section id="pagina-carrito"   class="pagina"&gt;</a:t>
            </a:r>
          </a:p>
          <a:p>
            <a:pPr algn="l"/>
            <a:r>
              <a:rPr sz="1050">
                <a:solidFill>
                  <a:srgbClr val="C8E0FF"/>
                </a:solidFill>
                <a:latin typeface="Consolas"/>
              </a:rPr>
              <a:t>    &lt;section id="pagina-datos"     class="pagina"&gt;</a:t>
            </a:r>
          </a:p>
          <a:p>
            <a:pPr algn="l"/>
            <a:r>
              <a:rPr sz="1050">
                <a:solidFill>
                  <a:srgbClr val="C8E0FF"/>
                </a:solidFill>
                <a:latin typeface="Consolas"/>
              </a:rPr>
              <a:t>    &lt;section id="pagina-pago"      class="pagina"&gt;</a:t>
            </a:r>
          </a:p>
          <a:p>
            <a:pPr algn="l"/>
            <a:r>
              <a:rPr sz="1050">
                <a:solidFill>
                  <a:srgbClr val="C8E0FF"/>
                </a:solidFill>
                <a:latin typeface="Consolas"/>
              </a:rPr>
              <a:t>    &lt;section id="pagina-confirmacion" class="pagina"&gt;</a:t>
            </a:r>
          </a:p>
          <a:p>
            <a:pPr algn="l"/>
            <a:r>
              <a:rPr sz="1050">
                <a:solidFill>
                  <a:srgbClr val="C8E0FF"/>
                </a:solidFill>
                <a:latin typeface="Consolas"/>
              </a:rPr>
              <a:t>    &lt;section id="pagina-exito"     class="pagina"&gt;</a:t>
            </a:r>
          </a:p>
          <a:p>
            <a:pPr algn="l"/>
            <a:r>
              <a:rPr sz="1050">
                <a:solidFill>
                  <a:srgbClr val="C8E0FF"/>
                </a:solidFill>
                <a:latin typeface="Consolas"/>
              </a:rPr>
              <a:t>  &lt;/main&gt;</a:t>
            </a:r>
          </a:p>
          <a:p>
            <a:pPr algn="l"/>
            <a:r>
              <a:rPr sz="1050">
                <a:solidFill>
                  <a:srgbClr val="C8E0FF"/>
                </a:solidFill>
                <a:latin typeface="Consolas"/>
              </a:rPr>
              <a:t>  &lt;aside id="panel-carrito" class="panel-carrito"&gt;</a:t>
            </a:r>
          </a:p>
          <a:p>
            <a:pPr algn="l"/>
            <a:r>
              <a:rPr sz="1050">
                <a:solidFill>
                  <a:srgbClr val="C8E0FF"/>
                </a:solidFill>
                <a:latin typeface="Consolas"/>
              </a:rPr>
              <a:t>  &lt;!-- Toastify JS --&gt;</a:t>
            </a:r>
          </a:p>
          <a:p>
            <a:pPr algn="l"/>
            <a:r>
              <a:rPr sz="1050">
                <a:solidFill>
                  <a:srgbClr val="C8E0FF"/>
                </a:solidFill>
                <a:latin typeface="Consolas"/>
              </a:rPr>
              <a:t>  &lt;script src=".../toastify.js"&gt;&lt;/script&gt;</a:t>
            </a:r>
          </a:p>
          <a:p>
            <a:pPr algn="l"/>
            <a:r>
              <a:rPr sz="1050">
                <a:solidFill>
                  <a:srgbClr val="C8E0FF"/>
                </a:solidFill>
                <a:latin typeface="Consolas"/>
              </a:rPr>
              <a:t>  &lt;script src="js/app.js"&gt;&lt;/script&gt;</a:t>
            </a:r>
          </a:p>
          <a:p>
            <a:pPr algn="l"/>
            <a:r>
              <a:rPr sz="1050">
                <a:solidFill>
                  <a:srgbClr val="C8E0FF"/>
                </a:solidFill>
                <a:latin typeface="Consolas"/>
              </a:rPr>
              <a:t>&lt;/body&gt;</a:t>
            </a:r>
          </a:p>
        </p:txBody>
      </p:sp>
      <p:sp>
        <p:nvSpPr>
          <p:cNvPr id="11" name="Rectangle 10"/>
          <p:cNvSpPr/>
          <p:nvPr/>
        </p:nvSpPr>
        <p:spPr>
          <a:xfrm>
            <a:off x="7406640" y="1572768"/>
            <a:ext cx="4343400" cy="49651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06640" y="1572768"/>
            <a:ext cx="4343400" cy="54864"/>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0" y="1636776"/>
            <a:ext cx="4023360" cy="411480"/>
          </a:xfrm>
          <a:prstGeom prst="rect">
            <a:avLst/>
          </a:prstGeom>
          <a:noFill/>
        </p:spPr>
        <p:txBody>
          <a:bodyPr wrap="square">
            <a:spAutoFit/>
          </a:bodyPr>
          <a:lstStyle/>
          <a:p>
            <a:pPr algn="l"/>
            <a:r>
              <a:rPr sz="1500" b="1" i="0">
                <a:solidFill>
                  <a:srgbClr val="1A1A2E"/>
                </a:solidFill>
                <a:latin typeface="Segoe UI"/>
              </a:rPr>
              <a:t>Puntos clave</a:t>
            </a:r>
          </a:p>
        </p:txBody>
      </p:sp>
      <p:sp>
        <p:nvSpPr>
          <p:cNvPr id="14" name="TextBox 13"/>
          <p:cNvSpPr txBox="1"/>
          <p:nvPr/>
        </p:nvSpPr>
        <p:spPr>
          <a:xfrm>
            <a:off x="7589520" y="2121408"/>
            <a:ext cx="4023360" cy="3200400"/>
          </a:xfrm>
          <a:prstGeom prst="rect">
            <a:avLst/>
          </a:prstGeom>
          <a:noFill/>
        </p:spPr>
        <p:txBody>
          <a:bodyPr wrap="square">
            <a:spAutoFit/>
          </a:bodyPr>
          <a:lstStyle/>
          <a:p>
            <a:pPr algn="l"/>
            <a:r>
              <a:rPr sz="1150">
                <a:solidFill>
                  <a:srgbClr val="E94560"/>
                </a:solidFill>
                <a:latin typeface="Segoe UI"/>
              </a:rPr>
              <a:t>● </a:t>
            </a:r>
            <a:r>
              <a:rPr sz="1250">
                <a:solidFill>
                  <a:srgbClr val="666666"/>
                </a:solidFill>
                <a:latin typeface="Segoe UI"/>
              </a:rPr>
              <a:t>SPA: todas las secciones en un único HTML</a:t>
            </a:r>
          </a:p>
          <a:p>
            <a:pPr algn="l"/>
            <a:r>
              <a:rPr sz="1150">
                <a:solidFill>
                  <a:srgbClr val="E94560"/>
                </a:solidFill>
                <a:latin typeface="Segoe UI"/>
              </a:rPr>
              <a:t>● </a:t>
            </a:r>
            <a:r>
              <a:rPr sz="1250">
                <a:solidFill>
                  <a:srgbClr val="666666"/>
                </a:solidFill>
                <a:latin typeface="Segoe UI"/>
              </a:rPr>
              <a:t>Navegación por clases CSS (sin recarga)</a:t>
            </a:r>
          </a:p>
          <a:p>
            <a:pPr algn="l"/>
            <a:r>
              <a:rPr sz="1150">
                <a:solidFill>
                  <a:srgbClr val="E94560"/>
                </a:solidFill>
                <a:latin typeface="Segoe UI"/>
              </a:rPr>
              <a:t>● </a:t>
            </a:r>
            <a:r>
              <a:rPr sz="1250">
                <a:solidFill>
                  <a:srgbClr val="666666"/>
                </a:solidFill>
                <a:latin typeface="Segoe UI"/>
              </a:rPr>
              <a:t>Barra de pasos visible solo en checkout</a:t>
            </a:r>
          </a:p>
          <a:p>
            <a:pPr algn="l"/>
            <a:r>
              <a:rPr sz="1150">
                <a:solidFill>
                  <a:srgbClr val="E94560"/>
                </a:solidFill>
                <a:latin typeface="Segoe UI"/>
              </a:rPr>
              <a:t>● </a:t>
            </a:r>
            <a:r>
              <a:rPr sz="1250">
                <a:solidFill>
                  <a:srgbClr val="666666"/>
                </a:solidFill>
                <a:latin typeface="Segoe UI"/>
              </a:rPr>
              <a:t>Panel lateral del carrito como &lt;aside&gt;</a:t>
            </a:r>
          </a:p>
          <a:p>
            <a:pPr algn="l"/>
            <a:r>
              <a:rPr sz="1150">
                <a:solidFill>
                  <a:srgbClr val="E94560"/>
                </a:solidFill>
                <a:latin typeface="Segoe UI"/>
              </a:rPr>
              <a:t>● </a:t>
            </a:r>
            <a:r>
              <a:rPr sz="1250">
                <a:solidFill>
                  <a:srgbClr val="666666"/>
                </a:solidFill>
                <a:latin typeface="Segoe UI"/>
              </a:rPr>
              <a:t>Toastify cargado desde CDN (reemplaza alert/confirm/prompt)</a:t>
            </a:r>
          </a:p>
          <a:p>
            <a:pPr algn="l"/>
            <a:r>
              <a:rPr sz="1150">
                <a:solidFill>
                  <a:srgbClr val="E94560"/>
                </a:solidFill>
                <a:latin typeface="Segoe UI"/>
              </a:rPr>
              <a:t>● </a:t>
            </a:r>
            <a:r>
              <a:rPr sz="1250">
                <a:solidFill>
                  <a:srgbClr val="666666"/>
                </a:solidFill>
                <a:latin typeface="Segoe UI"/>
              </a:rPr>
              <a:t>JS al final del body para asegurar DOM cargado</a:t>
            </a:r>
          </a:p>
        </p:txBody>
      </p:sp>
      <p:sp>
        <p:nvSpPr>
          <p:cNvPr id="15" name="Rectangle 14"/>
          <p:cNvSpPr/>
          <p:nvPr/>
        </p:nvSpPr>
        <p:spPr>
          <a:xfrm>
            <a:off x="7589520" y="5669280"/>
            <a:ext cx="2011680" cy="34747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53527" y="5696712"/>
            <a:ext cx="1920240" cy="301752"/>
          </a:xfrm>
          <a:prstGeom prst="rect">
            <a:avLst/>
          </a:prstGeom>
          <a:noFill/>
        </p:spPr>
        <p:txBody>
          <a:bodyPr wrap="square">
            <a:spAutoFit/>
          </a:bodyPr>
          <a:lstStyle/>
          <a:p>
            <a:pPr algn="ctr"/>
            <a:r>
              <a:rPr sz="1200" b="1" i="0">
                <a:solidFill>
                  <a:srgbClr val="FFFFFF"/>
                </a:solidFill>
                <a:latin typeface="Segoe UI"/>
              </a:rPr>
              <a:t>6 páginas virtuales</a:t>
            </a:r>
          </a:p>
        </p:txBody>
      </p:sp>
      <p:sp>
        <p:nvSpPr>
          <p:cNvPr id="17" name="Rectangle 16"/>
          <p:cNvSpPr/>
          <p:nvPr/>
        </p:nvSpPr>
        <p:spPr>
          <a:xfrm>
            <a:off x="9738360" y="5669280"/>
            <a:ext cx="1828800" cy="347472"/>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02368" y="5696712"/>
            <a:ext cx="1719072" cy="301752"/>
          </a:xfrm>
          <a:prstGeom prst="rect">
            <a:avLst/>
          </a:prstGeom>
          <a:noFill/>
        </p:spPr>
        <p:txBody>
          <a:bodyPr wrap="square">
            <a:spAutoFit/>
          </a:bodyPr>
          <a:lstStyle/>
          <a:p>
            <a:pPr algn="ctr"/>
            <a:r>
              <a:rPr sz="1200" b="1" i="0">
                <a:solidFill>
                  <a:srgbClr val="FFFFFF"/>
                </a:solidFill>
                <a:latin typeface="Segoe UI"/>
              </a:rPr>
              <a:t>1 archivo HTML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716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71600"/>
            <a:ext cx="12188952" cy="73152"/>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82880"/>
            <a:ext cx="10972800" cy="822960"/>
          </a:xfrm>
          <a:prstGeom prst="rect">
            <a:avLst/>
          </a:prstGeom>
          <a:noFill/>
        </p:spPr>
        <p:txBody>
          <a:bodyPr wrap="square">
            <a:spAutoFit/>
          </a:bodyPr>
          <a:lstStyle/>
          <a:p>
            <a:pPr algn="l"/>
            <a:r>
              <a:rPr sz="3200" b="1" i="0">
                <a:solidFill>
                  <a:srgbClr val="FFFFFF"/>
                </a:solidFill>
                <a:latin typeface="Segoe UI"/>
              </a:rPr>
              <a:t>Código — CSS</a:t>
            </a:r>
          </a:p>
        </p:txBody>
      </p:sp>
      <p:sp>
        <p:nvSpPr>
          <p:cNvPr id="6" name="TextBox 5"/>
          <p:cNvSpPr txBox="1"/>
          <p:nvPr/>
        </p:nvSpPr>
        <p:spPr>
          <a:xfrm>
            <a:off x="457200" y="868680"/>
            <a:ext cx="10972800" cy="502920"/>
          </a:xfrm>
          <a:prstGeom prst="rect">
            <a:avLst/>
          </a:prstGeom>
          <a:noFill/>
        </p:spPr>
        <p:txBody>
          <a:bodyPr wrap="square">
            <a:spAutoFit/>
          </a:bodyPr>
          <a:lstStyle/>
          <a:p>
            <a:pPr algn="l"/>
            <a:r>
              <a:rPr sz="1500" b="0" i="0">
                <a:solidFill>
                  <a:srgbClr val="CCCCDD"/>
                </a:solidFill>
                <a:latin typeface="Segoe UI"/>
              </a:rPr>
              <a:t>style.css  ·  Diseño responsivo y sistema de páginas</a:t>
            </a:r>
          </a:p>
        </p:txBody>
      </p:sp>
      <p:sp>
        <p:nvSpPr>
          <p:cNvPr id="7" name="TextBox 6"/>
          <p:cNvSpPr txBox="1"/>
          <p:nvPr/>
        </p:nvSpPr>
        <p:spPr>
          <a:xfrm>
            <a:off x="411480" y="1572768"/>
            <a:ext cx="5486400" cy="411480"/>
          </a:xfrm>
          <a:prstGeom prst="rect">
            <a:avLst/>
          </a:prstGeom>
          <a:noFill/>
        </p:spPr>
        <p:txBody>
          <a:bodyPr wrap="square">
            <a:spAutoFit/>
          </a:bodyPr>
          <a:lstStyle/>
          <a:p>
            <a:pPr algn="l"/>
            <a:r>
              <a:rPr sz="1400" b="1" i="0">
                <a:solidFill>
                  <a:srgbClr val="1A1A2E"/>
                </a:solidFill>
                <a:latin typeface="Segoe UI"/>
              </a:rPr>
              <a:t>Sistema de páginas virtuales</a:t>
            </a:r>
          </a:p>
        </p:txBody>
      </p:sp>
      <p:sp>
        <p:nvSpPr>
          <p:cNvPr id="8" name="Rectangle 7"/>
          <p:cNvSpPr/>
          <p:nvPr/>
        </p:nvSpPr>
        <p:spPr>
          <a:xfrm>
            <a:off x="411480" y="1965960"/>
            <a:ext cx="5486400" cy="38862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1965960"/>
            <a:ext cx="64008" cy="388620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103120"/>
            <a:ext cx="5257800" cy="3611880"/>
          </a:xfrm>
          <a:prstGeom prst="rect">
            <a:avLst/>
          </a:prstGeom>
          <a:noFill/>
        </p:spPr>
        <p:txBody>
          <a:bodyPr wrap="none">
            <a:spAutoFit/>
          </a:bodyPr>
          <a:lstStyle/>
          <a:p>
            <a:pPr algn="l"/>
            <a:r>
              <a:rPr sz="1050">
                <a:solidFill>
                  <a:srgbClr val="C8E0FF"/>
                </a:solidFill>
                <a:latin typeface="Consolas"/>
              </a:rPr>
              <a:t>/* Todas las páginas ocultas por defecto */</a:t>
            </a:r>
          </a:p>
          <a:p>
            <a:pPr algn="l"/>
            <a:r>
              <a:rPr sz="1050">
                <a:solidFill>
                  <a:srgbClr val="C8E0FF"/>
                </a:solidFill>
                <a:latin typeface="Consolas"/>
              </a:rPr>
              <a:t>.pagina {</a:t>
            </a:r>
          </a:p>
          <a:p>
            <a:pPr algn="l"/>
            <a:r>
              <a:rPr sz="1050">
                <a:solidFill>
                  <a:srgbClr val="C8E0FF"/>
                </a:solidFill>
                <a:latin typeface="Consolas"/>
              </a:rPr>
              <a:t>    display: none;</a:t>
            </a:r>
          </a:p>
          <a:p>
            <a:pPr algn="l"/>
            <a:r>
              <a:rPr sz="1050">
                <a:solidFill>
                  <a:srgbClr val="C8E0FF"/>
                </a:solidFill>
                <a:latin typeface="Consolas"/>
              </a:rPr>
              <a:t>}</a:t>
            </a:r>
          </a:p>
          <a:p>
            <a:pPr algn="l"/>
            <a:r>
              <a:rPr sz="1050">
                <a:solidFill>
                  <a:srgbClr val="C8E0FF"/>
                </a:solidFill>
                <a:latin typeface="Consolas"/>
              </a:rPr>
              <a:t/>
            </a:r>
          </a:p>
          <a:p>
            <a:pPr algn="l"/>
            <a:r>
              <a:rPr sz="1050">
                <a:solidFill>
                  <a:srgbClr val="C8E0FF"/>
                </a:solidFill>
                <a:latin typeface="Consolas"/>
              </a:rPr>
              <a:t>/* Solo la activa se muestra */</a:t>
            </a:r>
          </a:p>
          <a:p>
            <a:pPr algn="l"/>
            <a:r>
              <a:rPr sz="1050">
                <a:solidFill>
                  <a:srgbClr val="C8E0FF"/>
                </a:solidFill>
                <a:latin typeface="Consolas"/>
              </a:rPr>
              <a:t>.pagina.activa {</a:t>
            </a:r>
          </a:p>
          <a:p>
            <a:pPr algn="l"/>
            <a:r>
              <a:rPr sz="1050">
                <a:solidFill>
                  <a:srgbClr val="C8E0FF"/>
                </a:solidFill>
                <a:latin typeface="Consolas"/>
              </a:rPr>
              <a:t>    display: block;</a:t>
            </a:r>
          </a:p>
          <a:p>
            <a:pPr algn="l"/>
            <a:r>
              <a:rPr sz="1050">
                <a:solidFill>
                  <a:srgbClr val="C8E0FF"/>
                </a:solidFill>
                <a:latin typeface="Consolas"/>
              </a:rPr>
              <a:t>}</a:t>
            </a:r>
          </a:p>
          <a:p>
            <a:pPr algn="l"/>
            <a:r>
              <a:rPr sz="1050">
                <a:solidFill>
                  <a:srgbClr val="C8E0FF"/>
                </a:solidFill>
                <a:latin typeface="Consolas"/>
              </a:rPr>
              <a:t/>
            </a:r>
          </a:p>
          <a:p>
            <a:pPr algn="l"/>
            <a:r>
              <a:rPr sz="1050">
                <a:solidFill>
                  <a:srgbClr val="C8E0FF"/>
                </a:solidFill>
                <a:latin typeface="Consolas"/>
              </a:rPr>
              <a:t>/* Panel lateral con animación */</a:t>
            </a:r>
          </a:p>
          <a:p>
            <a:pPr algn="l"/>
            <a:r>
              <a:rPr sz="1050">
                <a:solidFill>
                  <a:srgbClr val="C8E0FF"/>
                </a:solidFill>
                <a:latin typeface="Consolas"/>
              </a:rPr>
              <a:t>.panel-carrito {</a:t>
            </a:r>
          </a:p>
          <a:p>
            <a:pPr algn="l"/>
            <a:r>
              <a:rPr sz="1050">
                <a:solidFill>
                  <a:srgbClr val="C8E0FF"/>
                </a:solidFill>
                <a:latin typeface="Consolas"/>
              </a:rPr>
              <a:t>    position: fixed;</a:t>
            </a:r>
          </a:p>
          <a:p>
            <a:pPr algn="l"/>
            <a:r>
              <a:rPr sz="1050">
                <a:solidFill>
                  <a:srgbClr val="C8E0FF"/>
                </a:solidFill>
                <a:latin typeface="Consolas"/>
              </a:rPr>
              <a:t>    right: -400px;          /* Oculto fuera de pantalla */</a:t>
            </a:r>
          </a:p>
          <a:p>
            <a:pPr algn="l"/>
            <a:r>
              <a:rPr sz="1050">
                <a:solidFill>
                  <a:srgbClr val="C8E0FF"/>
                </a:solidFill>
                <a:latin typeface="Consolas"/>
              </a:rPr>
              <a:t>    transition: right 0.3s ease;</a:t>
            </a:r>
          </a:p>
          <a:p>
            <a:pPr algn="l"/>
            <a:r>
              <a:rPr sz="1050">
                <a:solidFill>
                  <a:srgbClr val="C8E0FF"/>
                </a:solidFill>
                <a:latin typeface="Consolas"/>
              </a:rPr>
              <a:t>}</a:t>
            </a:r>
          </a:p>
          <a:p>
            <a:pPr algn="l"/>
            <a:r>
              <a:rPr sz="1050">
                <a:solidFill>
                  <a:srgbClr val="C8E0FF"/>
                </a:solidFill>
                <a:latin typeface="Consolas"/>
              </a:rPr>
              <a:t>.panel-carrito.abierto {</a:t>
            </a:r>
          </a:p>
          <a:p>
            <a:pPr algn="l"/>
            <a:r>
              <a:rPr sz="1050">
                <a:solidFill>
                  <a:srgbClr val="C8E0FF"/>
                </a:solidFill>
                <a:latin typeface="Consolas"/>
              </a:rPr>
              <a:t>    right: 0;               /* Desliza al interior */</a:t>
            </a:r>
          </a:p>
          <a:p>
            <a:pPr algn="l"/>
            <a:r>
              <a:rPr sz="1050">
                <a:solidFill>
                  <a:srgbClr val="C8E0FF"/>
                </a:solidFill>
                <a:latin typeface="Consolas"/>
              </a:rPr>
              <a:t>}</a:t>
            </a:r>
          </a:p>
        </p:txBody>
      </p:sp>
      <p:sp>
        <p:nvSpPr>
          <p:cNvPr id="11" name="TextBox 10"/>
          <p:cNvSpPr txBox="1"/>
          <p:nvPr/>
        </p:nvSpPr>
        <p:spPr>
          <a:xfrm>
            <a:off x="6172200" y="1572768"/>
            <a:ext cx="5577840" cy="411480"/>
          </a:xfrm>
          <a:prstGeom prst="rect">
            <a:avLst/>
          </a:prstGeom>
          <a:noFill/>
        </p:spPr>
        <p:txBody>
          <a:bodyPr wrap="square">
            <a:spAutoFit/>
          </a:bodyPr>
          <a:lstStyle/>
          <a:p>
            <a:pPr algn="l"/>
            <a:r>
              <a:rPr sz="1400" b="1" i="0">
                <a:solidFill>
                  <a:srgbClr val="1A1A2E"/>
                </a:solidFill>
                <a:latin typeface="Segoe UI"/>
              </a:rPr>
              <a:t>Grilla de productos responsive</a:t>
            </a:r>
          </a:p>
        </p:txBody>
      </p:sp>
      <p:sp>
        <p:nvSpPr>
          <p:cNvPr id="12" name="Rectangle 11"/>
          <p:cNvSpPr/>
          <p:nvPr/>
        </p:nvSpPr>
        <p:spPr>
          <a:xfrm>
            <a:off x="6172200" y="1965960"/>
            <a:ext cx="5577840" cy="27432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2200" y="1965960"/>
            <a:ext cx="64008" cy="274320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0" y="2103120"/>
            <a:ext cx="5349240" cy="2468880"/>
          </a:xfrm>
          <a:prstGeom prst="rect">
            <a:avLst/>
          </a:prstGeom>
          <a:noFill/>
        </p:spPr>
        <p:txBody>
          <a:bodyPr wrap="none">
            <a:spAutoFit/>
          </a:bodyPr>
          <a:lstStyle/>
          <a:p>
            <a:pPr algn="l"/>
            <a:r>
              <a:rPr sz="1050">
                <a:solidFill>
                  <a:srgbClr val="C8E0FF"/>
                </a:solidFill>
                <a:latin typeface="Consolas"/>
              </a:rPr>
              <a:t>.productos-grid {</a:t>
            </a:r>
          </a:p>
          <a:p>
            <a:pPr algn="l"/>
            <a:r>
              <a:rPr sz="1050">
                <a:solidFill>
                  <a:srgbClr val="C8E0FF"/>
                </a:solidFill>
                <a:latin typeface="Consolas"/>
              </a:rPr>
              <a:t>    display: grid;</a:t>
            </a:r>
          </a:p>
          <a:p>
            <a:pPr algn="l"/>
            <a:r>
              <a:rPr sz="1050">
                <a:solidFill>
                  <a:srgbClr val="C8E0FF"/>
                </a:solidFill>
                <a:latin typeface="Consolas"/>
              </a:rPr>
              <a:t>    grid-template-columns:</a:t>
            </a:r>
          </a:p>
          <a:p>
            <a:pPr algn="l"/>
            <a:r>
              <a:rPr sz="1050">
                <a:solidFill>
                  <a:srgbClr val="C8E0FF"/>
                </a:solidFill>
                <a:latin typeface="Consolas"/>
              </a:rPr>
              <a:t>        repeat(auto-fill, minmax(260px, 1fr));</a:t>
            </a:r>
          </a:p>
          <a:p>
            <a:pPr algn="l"/>
            <a:r>
              <a:rPr sz="1050">
                <a:solidFill>
                  <a:srgbClr val="C8E0FF"/>
                </a:solidFill>
                <a:latin typeface="Consolas"/>
              </a:rPr>
              <a:t>    gap: 1.5rem;</a:t>
            </a:r>
          </a:p>
          <a:p>
            <a:pPr algn="l"/>
            <a:r>
              <a:rPr sz="1050">
                <a:solidFill>
                  <a:srgbClr val="C8E0FF"/>
                </a:solidFill>
                <a:latin typeface="Consolas"/>
              </a:rPr>
              <a:t>}</a:t>
            </a:r>
          </a:p>
          <a:p>
            <a:pPr algn="l"/>
            <a:r>
              <a:rPr sz="1050">
                <a:solidFill>
                  <a:srgbClr val="C8E0FF"/>
                </a:solidFill>
                <a:latin typeface="Consolas"/>
              </a:rPr>
              <a:t/>
            </a:r>
          </a:p>
          <a:p>
            <a:pPr algn="l"/>
            <a:r>
              <a:rPr sz="1050">
                <a:solidFill>
                  <a:srgbClr val="C8E0FF"/>
                </a:solidFill>
                <a:latin typeface="Consolas"/>
              </a:rPr>
              <a:t>@media (max-width: 700px) {</a:t>
            </a:r>
          </a:p>
          <a:p>
            <a:pPr algn="l"/>
            <a:r>
              <a:rPr sz="1050">
                <a:solidFill>
                  <a:srgbClr val="C8E0FF"/>
                </a:solidFill>
                <a:latin typeface="Consolas"/>
              </a:rPr>
              <a:t>    .productos-grid {</a:t>
            </a:r>
          </a:p>
          <a:p>
            <a:pPr algn="l"/>
            <a:r>
              <a:rPr sz="1050">
                <a:solidFill>
                  <a:srgbClr val="C8E0FF"/>
                </a:solidFill>
                <a:latin typeface="Consolas"/>
              </a:rPr>
              <a:t>        grid-template-columns: 1fr;</a:t>
            </a:r>
          </a:p>
          <a:p>
            <a:pPr algn="l"/>
            <a:r>
              <a:rPr sz="1050">
                <a:solidFill>
                  <a:srgbClr val="C8E0FF"/>
                </a:solidFill>
                <a:latin typeface="Consolas"/>
              </a:rPr>
              <a:t>    }</a:t>
            </a:r>
          </a:p>
          <a:p>
            <a:pPr algn="l"/>
            <a:r>
              <a:rPr sz="1050">
                <a:solidFill>
                  <a:srgbClr val="C8E0FF"/>
                </a:solidFill>
                <a:latin typeface="Consolas"/>
              </a:rPr>
              <a:t>    .form-fila {</a:t>
            </a:r>
          </a:p>
          <a:p>
            <a:pPr algn="l"/>
            <a:r>
              <a:rPr sz="1050">
                <a:solidFill>
                  <a:srgbClr val="C8E0FF"/>
                </a:solidFill>
                <a:latin typeface="Consolas"/>
              </a:rPr>
              <a:t>        grid-template-columns: 1fr;</a:t>
            </a:r>
          </a:p>
          <a:p>
            <a:pPr algn="l"/>
            <a:r>
              <a:rPr sz="1050">
                <a:solidFill>
                  <a:srgbClr val="C8E0FF"/>
                </a:solidFill>
                <a:latin typeface="Consolas"/>
              </a:rPr>
              <a:t>    }</a:t>
            </a:r>
          </a:p>
          <a:p>
            <a:pPr algn="l"/>
            <a:r>
              <a:rPr sz="1050">
                <a:solidFill>
                  <a:srgbClr val="C8E0FF"/>
                </a:solidFill>
                <a:latin typeface="Consolas"/>
              </a:rPr>
              <a:t>}</a:t>
            </a:r>
          </a:p>
        </p:txBody>
      </p:sp>
      <p:sp>
        <p:nvSpPr>
          <p:cNvPr id="15" name="Rectangle 14"/>
          <p:cNvSpPr/>
          <p:nvPr/>
        </p:nvSpPr>
        <p:spPr>
          <a:xfrm>
            <a:off x="6172200" y="4846320"/>
            <a:ext cx="5577840" cy="1691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4846320"/>
            <a:ext cx="5577840" cy="54864"/>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80" y="4910328"/>
            <a:ext cx="5212080" cy="411480"/>
          </a:xfrm>
          <a:prstGeom prst="rect">
            <a:avLst/>
          </a:prstGeom>
          <a:noFill/>
        </p:spPr>
        <p:txBody>
          <a:bodyPr wrap="square">
            <a:spAutoFit/>
          </a:bodyPr>
          <a:lstStyle/>
          <a:p>
            <a:pPr algn="l"/>
            <a:r>
              <a:rPr sz="1400" b="1" i="0">
                <a:solidFill>
                  <a:srgbClr val="1A1A2E"/>
                </a:solidFill>
                <a:latin typeface="Segoe UI"/>
              </a:rPr>
              <a:t>Paleta de colores</a:t>
            </a:r>
          </a:p>
        </p:txBody>
      </p:sp>
      <p:sp>
        <p:nvSpPr>
          <p:cNvPr id="18" name="Rectangle 17"/>
          <p:cNvSpPr/>
          <p:nvPr/>
        </p:nvSpPr>
        <p:spPr>
          <a:xfrm>
            <a:off x="6355080" y="5394960"/>
            <a:ext cx="1188720" cy="4572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80" y="5897880"/>
            <a:ext cx="1188720" cy="274320"/>
          </a:xfrm>
          <a:prstGeom prst="rect">
            <a:avLst/>
          </a:prstGeom>
          <a:noFill/>
        </p:spPr>
        <p:txBody>
          <a:bodyPr wrap="square">
            <a:spAutoFit/>
          </a:bodyPr>
          <a:lstStyle/>
          <a:p>
            <a:pPr algn="ctr"/>
            <a:r>
              <a:rPr sz="900" b="1" i="0">
                <a:solidFill>
                  <a:srgbClr val="666666"/>
                </a:solidFill>
                <a:latin typeface="Segoe UI"/>
              </a:rPr>
              <a:t>#1a1a2e</a:t>
            </a:r>
          </a:p>
        </p:txBody>
      </p:sp>
      <p:sp>
        <p:nvSpPr>
          <p:cNvPr id="20" name="TextBox 19"/>
          <p:cNvSpPr txBox="1"/>
          <p:nvPr/>
        </p:nvSpPr>
        <p:spPr>
          <a:xfrm>
            <a:off x="6355080" y="6172200"/>
            <a:ext cx="1188720" cy="274320"/>
          </a:xfrm>
          <a:prstGeom prst="rect">
            <a:avLst/>
          </a:prstGeom>
          <a:noFill/>
        </p:spPr>
        <p:txBody>
          <a:bodyPr wrap="square">
            <a:spAutoFit/>
          </a:bodyPr>
          <a:lstStyle/>
          <a:p>
            <a:pPr algn="ctr"/>
            <a:r>
              <a:rPr sz="900" b="0" i="0">
                <a:solidFill>
                  <a:srgbClr val="666666"/>
                </a:solidFill>
                <a:latin typeface="Segoe UI"/>
              </a:rPr>
              <a:t>Fondo/Header</a:t>
            </a:r>
          </a:p>
        </p:txBody>
      </p:sp>
      <p:sp>
        <p:nvSpPr>
          <p:cNvPr id="21" name="Rectangle 20"/>
          <p:cNvSpPr/>
          <p:nvPr/>
        </p:nvSpPr>
        <p:spPr>
          <a:xfrm>
            <a:off x="7699248" y="5394960"/>
            <a:ext cx="1188720" cy="45720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99248" y="5897880"/>
            <a:ext cx="1188720" cy="274320"/>
          </a:xfrm>
          <a:prstGeom prst="rect">
            <a:avLst/>
          </a:prstGeom>
          <a:noFill/>
        </p:spPr>
        <p:txBody>
          <a:bodyPr wrap="square">
            <a:spAutoFit/>
          </a:bodyPr>
          <a:lstStyle/>
          <a:p>
            <a:pPr algn="ctr"/>
            <a:r>
              <a:rPr sz="900" b="1" i="0">
                <a:solidFill>
                  <a:srgbClr val="666666"/>
                </a:solidFill>
                <a:latin typeface="Segoe UI"/>
              </a:rPr>
              <a:t>#0f3460</a:t>
            </a:r>
          </a:p>
        </p:txBody>
      </p:sp>
      <p:sp>
        <p:nvSpPr>
          <p:cNvPr id="23" name="TextBox 22"/>
          <p:cNvSpPr txBox="1"/>
          <p:nvPr/>
        </p:nvSpPr>
        <p:spPr>
          <a:xfrm>
            <a:off x="7699248" y="6172200"/>
            <a:ext cx="1188720" cy="274320"/>
          </a:xfrm>
          <a:prstGeom prst="rect">
            <a:avLst/>
          </a:prstGeom>
          <a:noFill/>
        </p:spPr>
        <p:txBody>
          <a:bodyPr wrap="square">
            <a:spAutoFit/>
          </a:bodyPr>
          <a:lstStyle/>
          <a:p>
            <a:pPr algn="ctr"/>
            <a:r>
              <a:rPr sz="900" b="0" i="0">
                <a:solidFill>
                  <a:srgbClr val="666666"/>
                </a:solidFill>
                <a:latin typeface="Segoe UI"/>
              </a:rPr>
              <a:t>Botones/Primary</a:t>
            </a:r>
          </a:p>
        </p:txBody>
      </p:sp>
      <p:sp>
        <p:nvSpPr>
          <p:cNvPr id="24" name="Rectangle 23"/>
          <p:cNvSpPr/>
          <p:nvPr/>
        </p:nvSpPr>
        <p:spPr>
          <a:xfrm>
            <a:off x="9043416" y="5394960"/>
            <a:ext cx="1188720" cy="45720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43416" y="5897880"/>
            <a:ext cx="1188720" cy="274320"/>
          </a:xfrm>
          <a:prstGeom prst="rect">
            <a:avLst/>
          </a:prstGeom>
          <a:noFill/>
        </p:spPr>
        <p:txBody>
          <a:bodyPr wrap="square">
            <a:spAutoFit/>
          </a:bodyPr>
          <a:lstStyle/>
          <a:p>
            <a:pPr algn="ctr"/>
            <a:r>
              <a:rPr sz="900" b="1" i="0">
                <a:solidFill>
                  <a:srgbClr val="666666"/>
                </a:solidFill>
                <a:latin typeface="Segoe UI"/>
              </a:rPr>
              <a:t>#e94560</a:t>
            </a:r>
          </a:p>
        </p:txBody>
      </p:sp>
      <p:sp>
        <p:nvSpPr>
          <p:cNvPr id="26" name="TextBox 25"/>
          <p:cNvSpPr txBox="1"/>
          <p:nvPr/>
        </p:nvSpPr>
        <p:spPr>
          <a:xfrm>
            <a:off x="9043416" y="6172200"/>
            <a:ext cx="1188720" cy="274320"/>
          </a:xfrm>
          <a:prstGeom prst="rect">
            <a:avLst/>
          </a:prstGeom>
          <a:noFill/>
        </p:spPr>
        <p:txBody>
          <a:bodyPr wrap="square">
            <a:spAutoFit/>
          </a:bodyPr>
          <a:lstStyle/>
          <a:p>
            <a:pPr algn="ctr"/>
            <a:r>
              <a:rPr sz="900" b="0" i="0">
                <a:solidFill>
                  <a:srgbClr val="666666"/>
                </a:solidFill>
                <a:latin typeface="Segoe UI"/>
              </a:rPr>
              <a:t>Acento/Precio</a:t>
            </a:r>
          </a:p>
        </p:txBody>
      </p:sp>
      <p:sp>
        <p:nvSpPr>
          <p:cNvPr id="27" name="Rectangle 26"/>
          <p:cNvSpPr/>
          <p:nvPr/>
        </p:nvSpPr>
        <p:spPr>
          <a:xfrm>
            <a:off x="10387584" y="5394960"/>
            <a:ext cx="1188720" cy="4572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87584" y="5897880"/>
            <a:ext cx="1188720" cy="274320"/>
          </a:xfrm>
          <a:prstGeom prst="rect">
            <a:avLst/>
          </a:prstGeom>
          <a:noFill/>
        </p:spPr>
        <p:txBody>
          <a:bodyPr wrap="square">
            <a:spAutoFit/>
          </a:bodyPr>
          <a:lstStyle/>
          <a:p>
            <a:pPr algn="ctr"/>
            <a:r>
              <a:rPr sz="900" b="1" i="0">
                <a:solidFill>
                  <a:srgbClr val="666666"/>
                </a:solidFill>
                <a:latin typeface="Segoe UI"/>
              </a:rPr>
              <a:t>#f5f5f5</a:t>
            </a:r>
          </a:p>
        </p:txBody>
      </p:sp>
      <p:sp>
        <p:nvSpPr>
          <p:cNvPr id="29" name="TextBox 28"/>
          <p:cNvSpPr txBox="1"/>
          <p:nvPr/>
        </p:nvSpPr>
        <p:spPr>
          <a:xfrm>
            <a:off x="10387584" y="6172200"/>
            <a:ext cx="1188720" cy="274320"/>
          </a:xfrm>
          <a:prstGeom prst="rect">
            <a:avLst/>
          </a:prstGeom>
          <a:noFill/>
        </p:spPr>
        <p:txBody>
          <a:bodyPr wrap="square">
            <a:spAutoFit/>
          </a:bodyPr>
          <a:lstStyle/>
          <a:p>
            <a:pPr algn="ctr"/>
            <a:r>
              <a:rPr sz="900" b="0" i="0">
                <a:solidFill>
                  <a:srgbClr val="666666"/>
                </a:solidFill>
                <a:latin typeface="Segoe UI"/>
              </a:rPr>
              <a:t>Fondo contenido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716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71600"/>
            <a:ext cx="12188952" cy="73152"/>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82880"/>
            <a:ext cx="10972800" cy="822960"/>
          </a:xfrm>
          <a:prstGeom prst="rect">
            <a:avLst/>
          </a:prstGeom>
          <a:noFill/>
        </p:spPr>
        <p:txBody>
          <a:bodyPr wrap="square">
            <a:spAutoFit/>
          </a:bodyPr>
          <a:lstStyle/>
          <a:p>
            <a:pPr algn="l"/>
            <a:r>
              <a:rPr sz="3200" b="1" i="0">
                <a:solidFill>
                  <a:srgbClr val="FFFFFF"/>
                </a:solidFill>
                <a:latin typeface="Segoe UI"/>
              </a:rPr>
              <a:t>Código — JavaScript: Fetch y Arrays</a:t>
            </a:r>
          </a:p>
        </p:txBody>
      </p:sp>
      <p:sp>
        <p:nvSpPr>
          <p:cNvPr id="6" name="TextBox 5"/>
          <p:cNvSpPr txBox="1"/>
          <p:nvPr/>
        </p:nvSpPr>
        <p:spPr>
          <a:xfrm>
            <a:off x="457200" y="868680"/>
            <a:ext cx="10972800" cy="502920"/>
          </a:xfrm>
          <a:prstGeom prst="rect">
            <a:avLst/>
          </a:prstGeom>
          <a:noFill/>
        </p:spPr>
        <p:txBody>
          <a:bodyPr wrap="square">
            <a:spAutoFit/>
          </a:bodyPr>
          <a:lstStyle/>
          <a:p>
            <a:pPr algn="l"/>
            <a:r>
              <a:rPr sz="1500" b="0" i="0">
                <a:solidFill>
                  <a:srgbClr val="CCCCDD"/>
                </a:solidFill>
                <a:latin typeface="Segoe UI"/>
              </a:rPr>
              <a:t>app.js  ·  Carga de datos desde JSON externo + métodos funcionales</a:t>
            </a:r>
          </a:p>
        </p:txBody>
      </p:sp>
      <p:sp>
        <p:nvSpPr>
          <p:cNvPr id="7" name="TextBox 6"/>
          <p:cNvSpPr txBox="1"/>
          <p:nvPr/>
        </p:nvSpPr>
        <p:spPr>
          <a:xfrm>
            <a:off x="411480" y="1572768"/>
            <a:ext cx="6583680" cy="411480"/>
          </a:xfrm>
          <a:prstGeom prst="rect">
            <a:avLst/>
          </a:prstGeom>
          <a:noFill/>
        </p:spPr>
        <p:txBody>
          <a:bodyPr wrap="square">
            <a:spAutoFit/>
          </a:bodyPr>
          <a:lstStyle/>
          <a:p>
            <a:pPr algn="l"/>
            <a:r>
              <a:rPr sz="1400" b="1" i="0">
                <a:solidFill>
                  <a:srgbClr val="1A1A2E"/>
                </a:solidFill>
                <a:latin typeface="Segoe UI"/>
              </a:rPr>
              <a:t>Carga de productos con Fetch API</a:t>
            </a:r>
          </a:p>
        </p:txBody>
      </p:sp>
      <p:sp>
        <p:nvSpPr>
          <p:cNvPr id="8" name="Rectangle 7"/>
          <p:cNvSpPr/>
          <p:nvPr/>
        </p:nvSpPr>
        <p:spPr>
          <a:xfrm>
            <a:off x="411480" y="1965960"/>
            <a:ext cx="6583680" cy="438912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1965960"/>
            <a:ext cx="64008" cy="438912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103120"/>
            <a:ext cx="6355080" cy="4114800"/>
          </a:xfrm>
          <a:prstGeom prst="rect">
            <a:avLst/>
          </a:prstGeom>
          <a:noFill/>
        </p:spPr>
        <p:txBody>
          <a:bodyPr wrap="none">
            <a:spAutoFit/>
          </a:bodyPr>
          <a:lstStyle/>
          <a:p>
            <a:pPr algn="l"/>
            <a:r>
              <a:rPr sz="1050">
                <a:solidFill>
                  <a:srgbClr val="C8E0FF"/>
                </a:solidFill>
                <a:latin typeface="Consolas"/>
              </a:rPr>
              <a:t>function cargarProductos() {</a:t>
            </a:r>
          </a:p>
          <a:p>
            <a:pPr algn="l"/>
            <a:r>
              <a:rPr sz="1050">
                <a:solidFill>
                  <a:srgbClr val="C8E0FF"/>
                </a:solidFill>
                <a:latin typeface="Consolas"/>
              </a:rPr>
              <a:t>    fetch("data/products.json")</a:t>
            </a:r>
          </a:p>
          <a:p>
            <a:pPr algn="l"/>
            <a:r>
              <a:rPr sz="1050">
                <a:solidFill>
                  <a:srgbClr val="C8E0FF"/>
                </a:solidFill>
                <a:latin typeface="Consolas"/>
              </a:rPr>
              <a:t>        .then(function (respuesta) {</a:t>
            </a:r>
          </a:p>
          <a:p>
            <a:pPr algn="l"/>
            <a:r>
              <a:rPr sz="1050">
                <a:solidFill>
                  <a:srgbClr val="C8E0FF"/>
                </a:solidFill>
                <a:latin typeface="Consolas"/>
              </a:rPr>
              <a:t>            if (!respuesta.ok) {</a:t>
            </a:r>
          </a:p>
          <a:p>
            <a:pPr algn="l"/>
            <a:r>
              <a:rPr sz="1050">
                <a:solidFill>
                  <a:srgbClr val="C8E0FF"/>
                </a:solidFill>
                <a:latin typeface="Consolas"/>
              </a:rPr>
              <a:t>                throw new Error("Error al cargar productos");</a:t>
            </a:r>
          </a:p>
          <a:p>
            <a:pPr algn="l"/>
            <a:r>
              <a:rPr sz="1050">
                <a:solidFill>
                  <a:srgbClr val="C8E0FF"/>
                </a:solidFill>
                <a:latin typeface="Consolas"/>
              </a:rPr>
              <a:t>            }</a:t>
            </a:r>
          </a:p>
          <a:p>
            <a:pPr algn="l"/>
            <a:r>
              <a:rPr sz="1050">
                <a:solidFill>
                  <a:srgbClr val="C8E0FF"/>
                </a:solidFill>
                <a:latin typeface="Consolas"/>
              </a:rPr>
              <a:t>            return respuesta.json();</a:t>
            </a:r>
          </a:p>
          <a:p>
            <a:pPr algn="l"/>
            <a:r>
              <a:rPr sz="1050">
                <a:solidFill>
                  <a:srgbClr val="C8E0FF"/>
                </a:solidFill>
                <a:latin typeface="Consolas"/>
              </a:rPr>
              <a:t>        })</a:t>
            </a:r>
          </a:p>
          <a:p>
            <a:pPr algn="l"/>
            <a:r>
              <a:rPr sz="1050">
                <a:solidFill>
                  <a:srgbClr val="C8E0FF"/>
                </a:solidFill>
                <a:latin typeface="Consolas"/>
              </a:rPr>
              <a:t>        .then(function (datos) {</a:t>
            </a:r>
          </a:p>
          <a:p>
            <a:pPr algn="l"/>
            <a:r>
              <a:rPr sz="1050">
                <a:solidFill>
                  <a:srgbClr val="C8E0FF"/>
                </a:solidFill>
                <a:latin typeface="Consolas"/>
              </a:rPr>
              <a:t>            productos = datos;</a:t>
            </a:r>
          </a:p>
          <a:p>
            <a:pPr algn="l"/>
            <a:r>
              <a:rPr sz="1050">
                <a:solidFill>
                  <a:srgbClr val="C8E0FF"/>
                </a:solidFill>
                <a:latin typeface="Consolas"/>
              </a:rPr>
              <a:t/>
            </a:r>
          </a:p>
          <a:p>
            <a:pPr algn="l"/>
            <a:r>
              <a:rPr sz="1050">
                <a:solidFill>
                  <a:srgbClr val="C8E0FF"/>
                </a:solidFill>
                <a:latin typeface="Consolas"/>
              </a:rPr>
              <a:t>            // Ordenar por categoría y luego por precio</a:t>
            </a:r>
          </a:p>
          <a:p>
            <a:pPr algn="l"/>
            <a:r>
              <a:rPr sz="1050">
                <a:solidFill>
                  <a:srgbClr val="C8E0FF"/>
                </a:solidFill>
                <a:latin typeface="Consolas"/>
              </a:rPr>
              <a:t>            productos.sort(function (a, b) {</a:t>
            </a:r>
          </a:p>
          <a:p>
            <a:pPr algn="l"/>
            <a:r>
              <a:rPr sz="1050">
                <a:solidFill>
                  <a:srgbClr val="C8E0FF"/>
                </a:solidFill>
                <a:latin typeface="Consolas"/>
              </a:rPr>
              <a:t>                if (a.categoria &lt; b.categoria) return -1;</a:t>
            </a:r>
          </a:p>
          <a:p>
            <a:pPr algn="l"/>
            <a:r>
              <a:rPr sz="1050">
                <a:solidFill>
                  <a:srgbClr val="C8E0FF"/>
                </a:solidFill>
                <a:latin typeface="Consolas"/>
              </a:rPr>
              <a:t>                if (a.categoria &gt; b.categoria) return 1;</a:t>
            </a:r>
          </a:p>
          <a:p>
            <a:pPr algn="l"/>
            <a:r>
              <a:rPr sz="1050">
                <a:solidFill>
                  <a:srgbClr val="C8E0FF"/>
                </a:solidFill>
                <a:latin typeface="Consolas"/>
              </a:rPr>
              <a:t>                return a.precio - b.precio;</a:t>
            </a:r>
          </a:p>
          <a:p>
            <a:pPr algn="l"/>
            <a:r>
              <a:rPr sz="1050">
                <a:solidFill>
                  <a:srgbClr val="C8E0FF"/>
                </a:solidFill>
                <a:latin typeface="Consolas"/>
              </a:rPr>
              <a:t>            });</a:t>
            </a:r>
          </a:p>
          <a:p>
            <a:pPr algn="l"/>
            <a:r>
              <a:rPr sz="1050">
                <a:solidFill>
                  <a:srgbClr val="C8E0FF"/>
                </a:solidFill>
                <a:latin typeface="Consolas"/>
              </a:rPr>
              <a:t/>
            </a:r>
          </a:p>
          <a:p>
            <a:pPr algn="l"/>
            <a:r>
              <a:rPr sz="1050">
                <a:solidFill>
                  <a:srgbClr val="C8E0FF"/>
                </a:solidFill>
                <a:latin typeface="Consolas"/>
              </a:rPr>
              <a:t>            mostrarProductos(productos);</a:t>
            </a:r>
          </a:p>
          <a:p>
            <a:pPr algn="l"/>
            <a:r>
              <a:rPr sz="1050">
                <a:solidFill>
                  <a:srgbClr val="C8E0FF"/>
                </a:solidFill>
                <a:latin typeface="Consolas"/>
              </a:rPr>
              <a:t>        })</a:t>
            </a:r>
          </a:p>
          <a:p>
            <a:pPr algn="l"/>
            <a:r>
              <a:rPr sz="1050">
                <a:solidFill>
                  <a:srgbClr val="C8E0FF"/>
                </a:solidFill>
                <a:latin typeface="Consolas"/>
              </a:rPr>
              <a:t>        .catch(function () {</a:t>
            </a:r>
          </a:p>
          <a:p>
            <a:pPr algn="l"/>
            <a:r>
              <a:rPr sz="1050">
                <a:solidFill>
                  <a:srgbClr val="C8E0FF"/>
                </a:solidFill>
                <a:latin typeface="Consolas"/>
              </a:rPr>
              <a:t>            cargandoDiv.innerHTML = "Error al cargar productos.";</a:t>
            </a:r>
          </a:p>
          <a:p>
            <a:pPr algn="l"/>
            <a:r>
              <a:rPr sz="1050">
                <a:solidFill>
                  <a:srgbClr val="C8E0FF"/>
                </a:solidFill>
                <a:latin typeface="Consolas"/>
              </a:rPr>
              <a:t>        });</a:t>
            </a:r>
          </a:p>
          <a:p>
            <a:pPr algn="l"/>
            <a:r>
              <a:rPr sz="1050">
                <a:solidFill>
                  <a:srgbClr val="C8E0FF"/>
                </a:solidFill>
                <a:latin typeface="Consolas"/>
              </a:rPr>
              <a:t>}</a:t>
            </a:r>
          </a:p>
        </p:txBody>
      </p:sp>
      <p:sp>
        <p:nvSpPr>
          <p:cNvPr id="11" name="Rectangle 10"/>
          <p:cNvSpPr/>
          <p:nvPr/>
        </p:nvSpPr>
        <p:spPr>
          <a:xfrm>
            <a:off x="7269480" y="1572768"/>
            <a:ext cx="4480560" cy="49651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69480" y="1572768"/>
            <a:ext cx="4480560" cy="54864"/>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52360" y="1636776"/>
            <a:ext cx="4160520" cy="411480"/>
          </a:xfrm>
          <a:prstGeom prst="rect">
            <a:avLst/>
          </a:prstGeom>
          <a:noFill/>
        </p:spPr>
        <p:txBody>
          <a:bodyPr wrap="square">
            <a:spAutoFit/>
          </a:bodyPr>
          <a:lstStyle/>
          <a:p>
            <a:pPr algn="l"/>
            <a:r>
              <a:rPr sz="1400" b="1" i="0">
                <a:solidFill>
                  <a:srgbClr val="1A1A2E"/>
                </a:solidFill>
                <a:latin typeface="Segoe UI"/>
              </a:rPr>
              <a:t>Métodos de arrays utilizados</a:t>
            </a:r>
          </a:p>
        </p:txBody>
      </p:sp>
      <p:sp>
        <p:nvSpPr>
          <p:cNvPr id="14" name="Rectangle 13"/>
          <p:cNvSpPr/>
          <p:nvPr/>
        </p:nvSpPr>
        <p:spPr>
          <a:xfrm>
            <a:off x="7452360" y="2176272"/>
            <a:ext cx="1280160" cy="3657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79792" y="2212848"/>
            <a:ext cx="1234440" cy="310896"/>
          </a:xfrm>
          <a:prstGeom prst="rect">
            <a:avLst/>
          </a:prstGeom>
          <a:noFill/>
        </p:spPr>
        <p:txBody>
          <a:bodyPr wrap="square">
            <a:spAutoFit/>
          </a:bodyPr>
          <a:lstStyle/>
          <a:p>
            <a:pPr algn="ctr"/>
            <a:r>
              <a:rPr sz="1300" b="1" i="0">
                <a:solidFill>
                  <a:srgbClr val="E94560"/>
                </a:solidFill>
                <a:latin typeface="Segoe UI"/>
              </a:rPr>
              <a:t>.sort()</a:t>
            </a:r>
          </a:p>
        </p:txBody>
      </p:sp>
      <p:sp>
        <p:nvSpPr>
          <p:cNvPr id="16" name="TextBox 15"/>
          <p:cNvSpPr txBox="1"/>
          <p:nvPr/>
        </p:nvSpPr>
        <p:spPr>
          <a:xfrm>
            <a:off x="8823960" y="2221991"/>
            <a:ext cx="2697480" cy="320040"/>
          </a:xfrm>
          <a:prstGeom prst="rect">
            <a:avLst/>
          </a:prstGeom>
          <a:noFill/>
        </p:spPr>
        <p:txBody>
          <a:bodyPr wrap="square">
            <a:spAutoFit/>
          </a:bodyPr>
          <a:lstStyle/>
          <a:p>
            <a:pPr algn="l"/>
            <a:r>
              <a:rPr sz="1150" b="0" i="0">
                <a:solidFill>
                  <a:srgbClr val="666666"/>
                </a:solidFill>
                <a:latin typeface="Segoe UI"/>
              </a:rPr>
              <a:t>Ordena por categoría y precio al cargar</a:t>
            </a:r>
          </a:p>
        </p:txBody>
      </p:sp>
      <p:sp>
        <p:nvSpPr>
          <p:cNvPr id="17" name="Rectangle 16"/>
          <p:cNvSpPr/>
          <p:nvPr/>
        </p:nvSpPr>
        <p:spPr>
          <a:xfrm>
            <a:off x="7452360" y="2999232"/>
            <a:ext cx="1280160" cy="3657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79792" y="3035808"/>
            <a:ext cx="1234440" cy="310896"/>
          </a:xfrm>
          <a:prstGeom prst="rect">
            <a:avLst/>
          </a:prstGeom>
          <a:noFill/>
        </p:spPr>
        <p:txBody>
          <a:bodyPr wrap="square">
            <a:spAutoFit/>
          </a:bodyPr>
          <a:lstStyle/>
          <a:p>
            <a:pPr algn="ctr"/>
            <a:r>
              <a:rPr sz="1300" b="1" i="0">
                <a:solidFill>
                  <a:srgbClr val="E94560"/>
                </a:solidFill>
                <a:latin typeface="Segoe UI"/>
              </a:rPr>
              <a:t>.filter()</a:t>
            </a:r>
          </a:p>
        </p:txBody>
      </p:sp>
      <p:sp>
        <p:nvSpPr>
          <p:cNvPr id="19" name="TextBox 18"/>
          <p:cNvSpPr txBox="1"/>
          <p:nvPr/>
        </p:nvSpPr>
        <p:spPr>
          <a:xfrm>
            <a:off x="8823960" y="3044951"/>
            <a:ext cx="2697480" cy="320040"/>
          </a:xfrm>
          <a:prstGeom prst="rect">
            <a:avLst/>
          </a:prstGeom>
          <a:noFill/>
        </p:spPr>
        <p:txBody>
          <a:bodyPr wrap="square">
            <a:spAutoFit/>
          </a:bodyPr>
          <a:lstStyle/>
          <a:p>
            <a:pPr algn="l"/>
            <a:r>
              <a:rPr sz="1150" b="0" i="0">
                <a:solidFill>
                  <a:srgbClr val="666666"/>
                </a:solidFill>
                <a:latin typeface="Segoe UI"/>
              </a:rPr>
              <a:t>Filtra productos por categoría</a:t>
            </a:r>
          </a:p>
        </p:txBody>
      </p:sp>
      <p:sp>
        <p:nvSpPr>
          <p:cNvPr id="20" name="Rectangle 19"/>
          <p:cNvSpPr/>
          <p:nvPr/>
        </p:nvSpPr>
        <p:spPr>
          <a:xfrm>
            <a:off x="7452360" y="3822191"/>
            <a:ext cx="1280160" cy="3657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79792" y="3858768"/>
            <a:ext cx="1234440" cy="310896"/>
          </a:xfrm>
          <a:prstGeom prst="rect">
            <a:avLst/>
          </a:prstGeom>
          <a:noFill/>
        </p:spPr>
        <p:txBody>
          <a:bodyPr wrap="square">
            <a:spAutoFit/>
          </a:bodyPr>
          <a:lstStyle/>
          <a:p>
            <a:pPr algn="ctr"/>
            <a:r>
              <a:rPr sz="1300" b="1" i="0">
                <a:solidFill>
                  <a:srgbClr val="E94560"/>
                </a:solidFill>
                <a:latin typeface="Segoe UI"/>
              </a:rPr>
              <a:t>.find()</a:t>
            </a:r>
          </a:p>
        </p:txBody>
      </p:sp>
      <p:sp>
        <p:nvSpPr>
          <p:cNvPr id="22" name="TextBox 21"/>
          <p:cNvSpPr txBox="1"/>
          <p:nvPr/>
        </p:nvSpPr>
        <p:spPr>
          <a:xfrm>
            <a:off x="8823960" y="3867911"/>
            <a:ext cx="2697480" cy="320040"/>
          </a:xfrm>
          <a:prstGeom prst="rect">
            <a:avLst/>
          </a:prstGeom>
          <a:noFill/>
        </p:spPr>
        <p:txBody>
          <a:bodyPr wrap="square">
            <a:spAutoFit/>
          </a:bodyPr>
          <a:lstStyle/>
          <a:p>
            <a:pPr algn="l"/>
            <a:r>
              <a:rPr sz="1150" b="0" i="0">
                <a:solidFill>
                  <a:srgbClr val="666666"/>
                </a:solidFill>
                <a:latin typeface="Segoe UI"/>
              </a:rPr>
              <a:t>Busca producto por ID en el carrito</a:t>
            </a:r>
          </a:p>
        </p:txBody>
      </p:sp>
      <p:sp>
        <p:nvSpPr>
          <p:cNvPr id="23" name="Rectangle 22"/>
          <p:cNvSpPr/>
          <p:nvPr/>
        </p:nvSpPr>
        <p:spPr>
          <a:xfrm>
            <a:off x="7452360" y="4645152"/>
            <a:ext cx="1280160" cy="3657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79792" y="4681728"/>
            <a:ext cx="1234440" cy="310896"/>
          </a:xfrm>
          <a:prstGeom prst="rect">
            <a:avLst/>
          </a:prstGeom>
          <a:noFill/>
        </p:spPr>
        <p:txBody>
          <a:bodyPr wrap="square">
            <a:spAutoFit/>
          </a:bodyPr>
          <a:lstStyle/>
          <a:p>
            <a:pPr algn="ctr"/>
            <a:r>
              <a:rPr sz="1300" b="1" i="0">
                <a:solidFill>
                  <a:srgbClr val="E94560"/>
                </a:solidFill>
                <a:latin typeface="Segoe UI"/>
              </a:rPr>
              <a:t>.reduce()</a:t>
            </a:r>
          </a:p>
        </p:txBody>
      </p:sp>
      <p:sp>
        <p:nvSpPr>
          <p:cNvPr id="25" name="TextBox 24"/>
          <p:cNvSpPr txBox="1"/>
          <p:nvPr/>
        </p:nvSpPr>
        <p:spPr>
          <a:xfrm>
            <a:off x="8823960" y="4690872"/>
            <a:ext cx="2697480" cy="320040"/>
          </a:xfrm>
          <a:prstGeom prst="rect">
            <a:avLst/>
          </a:prstGeom>
          <a:noFill/>
        </p:spPr>
        <p:txBody>
          <a:bodyPr wrap="square">
            <a:spAutoFit/>
          </a:bodyPr>
          <a:lstStyle/>
          <a:p>
            <a:pPr algn="l"/>
            <a:r>
              <a:rPr sz="1150" b="0" i="0">
                <a:solidFill>
                  <a:srgbClr val="666666"/>
                </a:solidFill>
                <a:latin typeface="Segoe UI"/>
              </a:rPr>
              <a:t>Calcula el total de la compra</a:t>
            </a:r>
          </a:p>
        </p:txBody>
      </p:sp>
      <p:sp>
        <p:nvSpPr>
          <p:cNvPr id="26" name="Rectangle 25"/>
          <p:cNvSpPr/>
          <p:nvPr/>
        </p:nvSpPr>
        <p:spPr>
          <a:xfrm>
            <a:off x="7452360" y="5468112"/>
            <a:ext cx="1280160" cy="3657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79792" y="5504688"/>
            <a:ext cx="1234440" cy="310896"/>
          </a:xfrm>
          <a:prstGeom prst="rect">
            <a:avLst/>
          </a:prstGeom>
          <a:noFill/>
        </p:spPr>
        <p:txBody>
          <a:bodyPr wrap="square">
            <a:spAutoFit/>
          </a:bodyPr>
          <a:lstStyle/>
          <a:p>
            <a:pPr algn="ctr"/>
            <a:r>
              <a:rPr sz="1300" b="1" i="0">
                <a:solidFill>
                  <a:srgbClr val="E94560"/>
                </a:solidFill>
                <a:latin typeface="Segoe UI"/>
              </a:rPr>
              <a:t>.forEach()</a:t>
            </a:r>
          </a:p>
        </p:txBody>
      </p:sp>
      <p:sp>
        <p:nvSpPr>
          <p:cNvPr id="28" name="TextBox 27"/>
          <p:cNvSpPr txBox="1"/>
          <p:nvPr/>
        </p:nvSpPr>
        <p:spPr>
          <a:xfrm>
            <a:off x="8823960" y="5513832"/>
            <a:ext cx="2697480" cy="320040"/>
          </a:xfrm>
          <a:prstGeom prst="rect">
            <a:avLst/>
          </a:prstGeom>
          <a:noFill/>
        </p:spPr>
        <p:txBody>
          <a:bodyPr wrap="square">
            <a:spAutoFit/>
          </a:bodyPr>
          <a:lstStyle/>
          <a:p>
            <a:pPr algn="l"/>
            <a:r>
              <a:rPr sz="1150" b="0" i="0">
                <a:solidFill>
                  <a:srgbClr val="666666"/>
                </a:solidFill>
                <a:latin typeface="Segoe UI"/>
              </a:rPr>
              <a:t>Itera productos y carrito para renderizar</a:t>
            </a:r>
          </a:p>
        </p:txBody>
      </p:sp>
      <p:sp>
        <p:nvSpPr>
          <p:cNvPr id="29" name="Rectangle 28"/>
          <p:cNvSpPr/>
          <p:nvPr/>
        </p:nvSpPr>
        <p:spPr>
          <a:xfrm>
            <a:off x="7269480" y="5989320"/>
            <a:ext cx="4480560" cy="5486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06640" y="6035040"/>
            <a:ext cx="4206240" cy="411480"/>
          </a:xfrm>
          <a:prstGeom prst="rect">
            <a:avLst/>
          </a:prstGeom>
          <a:noFill/>
        </p:spPr>
        <p:txBody>
          <a:bodyPr wrap="square">
            <a:spAutoFit/>
          </a:bodyPr>
          <a:lstStyle/>
          <a:p>
            <a:pPr algn="l"/>
            <a:r>
              <a:rPr sz="1050" b="0" i="1">
                <a:solidFill>
                  <a:srgbClr val="88CCFF"/>
                </a:solidFill>
                <a:latin typeface="Segoe UI"/>
              </a:rPr>
              <a:t>// data/products.json  →  array de 13 productos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716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71600"/>
            <a:ext cx="12188952" cy="73152"/>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82880"/>
            <a:ext cx="10972800" cy="822960"/>
          </a:xfrm>
          <a:prstGeom prst="rect">
            <a:avLst/>
          </a:prstGeom>
          <a:noFill/>
        </p:spPr>
        <p:txBody>
          <a:bodyPr wrap="square">
            <a:spAutoFit/>
          </a:bodyPr>
          <a:lstStyle/>
          <a:p>
            <a:pPr algn="l"/>
            <a:r>
              <a:rPr sz="3200" b="1" i="0">
                <a:solidFill>
                  <a:srgbClr val="FFFFFF"/>
                </a:solidFill>
                <a:latin typeface="Segoe UI"/>
              </a:rPr>
              <a:t>Código — JavaScript: DOM y Eventos</a:t>
            </a:r>
          </a:p>
        </p:txBody>
      </p:sp>
      <p:sp>
        <p:nvSpPr>
          <p:cNvPr id="6" name="TextBox 5"/>
          <p:cNvSpPr txBox="1"/>
          <p:nvPr/>
        </p:nvSpPr>
        <p:spPr>
          <a:xfrm>
            <a:off x="457200" y="868680"/>
            <a:ext cx="10972800" cy="502920"/>
          </a:xfrm>
          <a:prstGeom prst="rect">
            <a:avLst/>
          </a:prstGeom>
          <a:noFill/>
        </p:spPr>
        <p:txBody>
          <a:bodyPr wrap="square">
            <a:spAutoFit/>
          </a:bodyPr>
          <a:lstStyle/>
          <a:p>
            <a:pPr algn="l"/>
            <a:r>
              <a:rPr sz="1500" b="0" i="0">
                <a:solidFill>
                  <a:srgbClr val="CCCCDD"/>
                </a:solidFill>
                <a:latin typeface="Segoe UI"/>
              </a:rPr>
              <a:t>app.js  ·  Navegación entre páginas y validación de formularios</a:t>
            </a:r>
          </a:p>
        </p:txBody>
      </p:sp>
      <p:sp>
        <p:nvSpPr>
          <p:cNvPr id="7" name="TextBox 6"/>
          <p:cNvSpPr txBox="1"/>
          <p:nvPr/>
        </p:nvSpPr>
        <p:spPr>
          <a:xfrm>
            <a:off x="411480" y="1572768"/>
            <a:ext cx="6583680" cy="411480"/>
          </a:xfrm>
          <a:prstGeom prst="rect">
            <a:avLst/>
          </a:prstGeom>
          <a:noFill/>
        </p:spPr>
        <p:txBody>
          <a:bodyPr wrap="square">
            <a:spAutoFit/>
          </a:bodyPr>
          <a:lstStyle/>
          <a:p>
            <a:pPr algn="l"/>
            <a:r>
              <a:rPr sz="1400" b="1" i="0">
                <a:solidFill>
                  <a:srgbClr val="1A1A2E"/>
                </a:solidFill>
                <a:latin typeface="Segoe UI"/>
              </a:rPr>
              <a:t>Función central: navegarA()</a:t>
            </a:r>
          </a:p>
        </p:txBody>
      </p:sp>
      <p:sp>
        <p:nvSpPr>
          <p:cNvPr id="8" name="Rectangle 7"/>
          <p:cNvSpPr/>
          <p:nvPr/>
        </p:nvSpPr>
        <p:spPr>
          <a:xfrm>
            <a:off x="411480" y="1965960"/>
            <a:ext cx="6583680" cy="438912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1965960"/>
            <a:ext cx="64008" cy="438912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103120"/>
            <a:ext cx="6355080" cy="4114800"/>
          </a:xfrm>
          <a:prstGeom prst="rect">
            <a:avLst/>
          </a:prstGeom>
          <a:noFill/>
        </p:spPr>
        <p:txBody>
          <a:bodyPr wrap="none">
            <a:spAutoFit/>
          </a:bodyPr>
          <a:lstStyle/>
          <a:p>
            <a:pPr algn="l"/>
            <a:r>
              <a:rPr sz="1050">
                <a:solidFill>
                  <a:srgbClr val="C8E0FF"/>
                </a:solidFill>
                <a:latin typeface="Consolas"/>
              </a:rPr>
              <a:t>function navegarA(nombrePagina) {</a:t>
            </a:r>
          </a:p>
          <a:p>
            <a:pPr algn="l"/>
            <a:r>
              <a:rPr sz="1050">
                <a:solidFill>
                  <a:srgbClr val="C8E0FF"/>
                </a:solidFill>
                <a:latin typeface="Consolas"/>
              </a:rPr>
              <a:t/>
            </a:r>
          </a:p>
          <a:p>
            <a:pPr algn="l"/>
            <a:r>
              <a:rPr sz="1050">
                <a:solidFill>
                  <a:srgbClr val="C8E0FF"/>
                </a:solidFill>
                <a:latin typeface="Consolas"/>
              </a:rPr>
              <a:t>    // Ocultar todas las páginas</a:t>
            </a:r>
          </a:p>
          <a:p>
            <a:pPr algn="l"/>
            <a:r>
              <a:rPr sz="1050">
                <a:solidFill>
                  <a:srgbClr val="C8E0FF"/>
                </a:solidFill>
                <a:latin typeface="Consolas"/>
              </a:rPr>
              <a:t>    paginas.forEach(function (pagina) {</a:t>
            </a:r>
          </a:p>
          <a:p>
            <a:pPr algn="l"/>
            <a:r>
              <a:rPr sz="1050">
                <a:solidFill>
                  <a:srgbClr val="C8E0FF"/>
                </a:solidFill>
                <a:latin typeface="Consolas"/>
              </a:rPr>
              <a:t>        pagina.classList.remove("activa");</a:t>
            </a:r>
          </a:p>
          <a:p>
            <a:pPr algn="l"/>
            <a:r>
              <a:rPr sz="1050">
                <a:solidFill>
                  <a:srgbClr val="C8E0FF"/>
                </a:solidFill>
                <a:latin typeface="Consolas"/>
              </a:rPr>
              <a:t>    });</a:t>
            </a:r>
          </a:p>
          <a:p>
            <a:pPr algn="l"/>
            <a:r>
              <a:rPr sz="1050">
                <a:solidFill>
                  <a:srgbClr val="C8E0FF"/>
                </a:solidFill>
                <a:latin typeface="Consolas"/>
              </a:rPr>
              <a:t/>
            </a:r>
          </a:p>
          <a:p>
            <a:pPr algn="l"/>
            <a:r>
              <a:rPr sz="1050">
                <a:solidFill>
                  <a:srgbClr val="C8E0FF"/>
                </a:solidFill>
                <a:latin typeface="Consolas"/>
              </a:rPr>
              <a:t>    // Mostrar la página destino</a:t>
            </a:r>
          </a:p>
          <a:p>
            <a:pPr algn="l"/>
            <a:r>
              <a:rPr sz="1050">
                <a:solidFill>
                  <a:srgbClr val="C8E0FF"/>
                </a:solidFill>
                <a:latin typeface="Consolas"/>
              </a:rPr>
              <a:t>    var paginaDestino = document.getElementById(nombrePagina);</a:t>
            </a:r>
          </a:p>
          <a:p>
            <a:pPr algn="l"/>
            <a:r>
              <a:rPr sz="1050">
                <a:solidFill>
                  <a:srgbClr val="C8E0FF"/>
                </a:solidFill>
                <a:latin typeface="Consolas"/>
              </a:rPr>
              <a:t>    if (paginaDestino) {</a:t>
            </a:r>
          </a:p>
          <a:p>
            <a:pPr algn="l"/>
            <a:r>
              <a:rPr sz="1050">
                <a:solidFill>
                  <a:srgbClr val="C8E0FF"/>
                </a:solidFill>
                <a:latin typeface="Consolas"/>
              </a:rPr>
              <a:t>        paginaDestino.classList.add("activa");</a:t>
            </a:r>
          </a:p>
          <a:p>
            <a:pPr algn="l"/>
            <a:r>
              <a:rPr sz="1050">
                <a:solidFill>
                  <a:srgbClr val="C8E0FF"/>
                </a:solidFill>
                <a:latin typeface="Consolas"/>
              </a:rPr>
              <a:t>    }</a:t>
            </a:r>
          </a:p>
          <a:p>
            <a:pPr algn="l"/>
            <a:r>
              <a:rPr sz="1050">
                <a:solidFill>
                  <a:srgbClr val="C8E0FF"/>
                </a:solidFill>
                <a:latin typeface="Consolas"/>
              </a:rPr>
              <a:t/>
            </a:r>
          </a:p>
          <a:p>
            <a:pPr algn="l"/>
            <a:r>
              <a:rPr sz="1050">
                <a:solidFill>
                  <a:srgbClr val="C8E0FF"/>
                </a:solidFill>
                <a:latin typeface="Consolas"/>
              </a:rPr>
              <a:t>    // Mostrar/ocultar barra de pasos</a:t>
            </a:r>
          </a:p>
          <a:p>
            <a:pPr algn="l"/>
            <a:r>
              <a:rPr sz="1050">
                <a:solidFill>
                  <a:srgbClr val="C8E0FF"/>
                </a:solidFill>
                <a:latin typeface="Consolas"/>
              </a:rPr>
              <a:t>    var paginasCheckout = [</a:t>
            </a:r>
          </a:p>
          <a:p>
            <a:pPr algn="l"/>
            <a:r>
              <a:rPr sz="1050">
                <a:solidFill>
                  <a:srgbClr val="C8E0FF"/>
                </a:solidFill>
                <a:latin typeface="Consolas"/>
              </a:rPr>
              <a:t>        "pagina-carrito","pagina-datos",</a:t>
            </a:r>
          </a:p>
          <a:p>
            <a:pPr algn="l"/>
            <a:r>
              <a:rPr sz="1050">
                <a:solidFill>
                  <a:srgbClr val="C8E0FF"/>
                </a:solidFill>
                <a:latin typeface="Consolas"/>
              </a:rPr>
              <a:t>        "pagina-pago","pagina-confirmacion"</a:t>
            </a:r>
          </a:p>
          <a:p>
            <a:pPr algn="l"/>
            <a:r>
              <a:rPr sz="1050">
                <a:solidFill>
                  <a:srgbClr val="C8E0FF"/>
                </a:solidFill>
                <a:latin typeface="Consolas"/>
              </a:rPr>
              <a:t>    ];</a:t>
            </a:r>
          </a:p>
          <a:p>
            <a:pPr algn="l"/>
            <a:r>
              <a:rPr sz="1050">
                <a:solidFill>
                  <a:srgbClr val="C8E0FF"/>
                </a:solidFill>
                <a:latin typeface="Consolas"/>
              </a:rPr>
              <a:t>    if (paginasCheckout.indexOf(nombrePagina) !== -1) {</a:t>
            </a:r>
          </a:p>
          <a:p>
            <a:pPr algn="l"/>
            <a:r>
              <a:rPr sz="1050">
                <a:solidFill>
                  <a:srgbClr val="C8E0FF"/>
                </a:solidFill>
                <a:latin typeface="Consolas"/>
              </a:rPr>
              <a:t>        barraPasos.classList.add("visible");</a:t>
            </a:r>
          </a:p>
          <a:p>
            <a:pPr algn="l"/>
            <a:r>
              <a:rPr sz="1050">
                <a:solidFill>
                  <a:srgbClr val="C8E0FF"/>
                </a:solidFill>
                <a:latin typeface="Consolas"/>
              </a:rPr>
              <a:t>    } else {</a:t>
            </a:r>
          </a:p>
          <a:p>
            <a:pPr algn="l"/>
            <a:r>
              <a:rPr sz="1050">
                <a:solidFill>
                  <a:srgbClr val="C8E0FF"/>
                </a:solidFill>
                <a:latin typeface="Consolas"/>
              </a:rPr>
              <a:t>        barraPasos.classList.remove("visible");</a:t>
            </a:r>
          </a:p>
          <a:p>
            <a:pPr algn="l"/>
            <a:r>
              <a:rPr sz="1050">
                <a:solidFill>
                  <a:srgbClr val="C8E0FF"/>
                </a:solidFill>
                <a:latin typeface="Consolas"/>
              </a:rPr>
              <a:t>    }</a:t>
            </a:r>
          </a:p>
          <a:p>
            <a:pPr algn="l"/>
            <a:r>
              <a:rPr sz="1050">
                <a:solidFill>
                  <a:srgbClr val="C8E0FF"/>
                </a:solidFill>
                <a:latin typeface="Consolas"/>
              </a:rPr>
              <a:t>    actualizarBarraPasos(nombrePagina);</a:t>
            </a:r>
          </a:p>
          <a:p>
            <a:pPr algn="l"/>
            <a:r>
              <a:rPr sz="1050">
                <a:solidFill>
                  <a:srgbClr val="C8E0FF"/>
                </a:solidFill>
                <a:latin typeface="Consolas"/>
              </a:rPr>
              <a:t>    cerrarPanelCarrito();</a:t>
            </a:r>
          </a:p>
          <a:p>
            <a:pPr algn="l"/>
            <a:r>
              <a:rPr sz="1050">
                <a:solidFill>
                  <a:srgbClr val="C8E0FF"/>
                </a:solidFill>
                <a:latin typeface="Consolas"/>
              </a:rPr>
              <a:t>}</a:t>
            </a:r>
          </a:p>
        </p:txBody>
      </p:sp>
      <p:sp>
        <p:nvSpPr>
          <p:cNvPr id="11" name="Rectangle 10"/>
          <p:cNvSpPr/>
          <p:nvPr/>
        </p:nvSpPr>
        <p:spPr>
          <a:xfrm>
            <a:off x="7269480" y="1572768"/>
            <a:ext cx="4480560" cy="49651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69480" y="1572768"/>
            <a:ext cx="4480560" cy="54864"/>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52360" y="1636776"/>
            <a:ext cx="4160520" cy="411480"/>
          </a:xfrm>
          <a:prstGeom prst="rect">
            <a:avLst/>
          </a:prstGeom>
          <a:noFill/>
        </p:spPr>
        <p:txBody>
          <a:bodyPr wrap="square">
            <a:spAutoFit/>
          </a:bodyPr>
          <a:lstStyle/>
          <a:p>
            <a:pPr algn="l"/>
            <a:r>
              <a:rPr sz="1400" b="1" i="0">
                <a:solidFill>
                  <a:srgbClr val="1A1A2E"/>
                </a:solidFill>
                <a:latin typeface="Segoe UI"/>
              </a:rPr>
              <a:t>Validación en tiempo real</a:t>
            </a:r>
          </a:p>
        </p:txBody>
      </p:sp>
      <p:sp>
        <p:nvSpPr>
          <p:cNvPr id="14" name="Rectangle 13"/>
          <p:cNvSpPr/>
          <p:nvPr/>
        </p:nvSpPr>
        <p:spPr>
          <a:xfrm>
            <a:off x="7269480" y="2084831"/>
            <a:ext cx="4480560" cy="256032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269480" y="2084831"/>
            <a:ext cx="64008" cy="256032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221991"/>
            <a:ext cx="4251960" cy="2286000"/>
          </a:xfrm>
          <a:prstGeom prst="rect">
            <a:avLst/>
          </a:prstGeom>
          <a:noFill/>
        </p:spPr>
        <p:txBody>
          <a:bodyPr wrap="none">
            <a:spAutoFit/>
          </a:bodyPr>
          <a:lstStyle/>
          <a:p>
            <a:pPr algn="l"/>
            <a:r>
              <a:rPr sz="1050">
                <a:solidFill>
                  <a:srgbClr val="C8E0FF"/>
                </a:solidFill>
                <a:latin typeface="Consolas"/>
              </a:rPr>
              <a:t>// Validación en vivo del email</a:t>
            </a:r>
          </a:p>
          <a:p>
            <a:pPr algn="l"/>
            <a:r>
              <a:rPr sz="1050">
                <a:solidFill>
                  <a:srgbClr val="C8E0FF"/>
                </a:solidFill>
                <a:latin typeface="Consolas"/>
              </a:rPr>
              <a:t>emailInput.addEventListener("blur",</a:t>
            </a:r>
          </a:p>
          <a:p>
            <a:pPr algn="l"/>
            <a:r>
              <a:rPr sz="1050">
                <a:solidFill>
                  <a:srgbClr val="C8E0FF"/>
                </a:solidFill>
                <a:latin typeface="Consolas"/>
              </a:rPr>
              <a:t>    function () {</a:t>
            </a:r>
          </a:p>
          <a:p>
            <a:pPr algn="l"/>
            <a:r>
              <a:rPr sz="1050">
                <a:solidFill>
                  <a:srgbClr val="C8E0FF"/>
                </a:solidFill>
                <a:latin typeface="Consolas"/>
              </a:rPr>
              <a:t>        validarEmailEnVivo();</a:t>
            </a:r>
          </a:p>
          <a:p>
            <a:pPr algn="l"/>
            <a:r>
              <a:rPr sz="1050">
                <a:solidFill>
                  <a:srgbClr val="C8E0FF"/>
                </a:solidFill>
                <a:latin typeface="Consolas"/>
              </a:rPr>
              <a:t>    }</a:t>
            </a:r>
          </a:p>
          <a:p>
            <a:pPr algn="l"/>
            <a:r>
              <a:rPr sz="1050">
                <a:solidFill>
                  <a:srgbClr val="C8E0FF"/>
                </a:solidFill>
                <a:latin typeface="Consolas"/>
              </a:rPr>
              <a:t>);</a:t>
            </a:r>
          </a:p>
          <a:p>
            <a:pPr algn="l"/>
            <a:r>
              <a:rPr sz="1050">
                <a:solidFill>
                  <a:srgbClr val="C8E0FF"/>
                </a:solidFill>
                <a:latin typeface="Consolas"/>
              </a:rPr>
              <a:t/>
            </a:r>
          </a:p>
          <a:p>
            <a:pPr algn="l"/>
            <a:r>
              <a:rPr sz="1050">
                <a:solidFill>
                  <a:srgbClr val="C8E0FF"/>
                </a:solidFill>
                <a:latin typeface="Consolas"/>
              </a:rPr>
              <a:t>emailInput.addEventListener("input",</a:t>
            </a:r>
          </a:p>
          <a:p>
            <a:pPr algn="l"/>
            <a:r>
              <a:rPr sz="1050">
                <a:solidFill>
                  <a:srgbClr val="C8E0FF"/>
                </a:solidFill>
                <a:latin typeface="Consolas"/>
              </a:rPr>
              <a:t>    function () {</a:t>
            </a:r>
          </a:p>
          <a:p>
            <a:pPr algn="l"/>
            <a:r>
              <a:rPr sz="1050">
                <a:solidFill>
                  <a:srgbClr val="C8E0FF"/>
                </a:solidFill>
                <a:latin typeface="Consolas"/>
              </a:rPr>
              <a:t>        if (emailInput.classList</a:t>
            </a:r>
          </a:p>
          <a:p>
            <a:pPr algn="l"/>
            <a:r>
              <a:rPr sz="1050">
                <a:solidFill>
                  <a:srgbClr val="C8E0FF"/>
                </a:solidFill>
                <a:latin typeface="Consolas"/>
              </a:rPr>
              <a:t>               .contains("error-input")) {</a:t>
            </a:r>
          </a:p>
          <a:p>
            <a:pPr algn="l"/>
            <a:r>
              <a:rPr sz="1050">
                <a:solidFill>
                  <a:srgbClr val="C8E0FF"/>
                </a:solidFill>
                <a:latin typeface="Consolas"/>
              </a:rPr>
              <a:t>            validarEmailEnVivo();</a:t>
            </a:r>
          </a:p>
          <a:p>
            <a:pPr algn="l"/>
            <a:r>
              <a:rPr sz="1050">
                <a:solidFill>
                  <a:srgbClr val="C8E0FF"/>
                </a:solidFill>
                <a:latin typeface="Consolas"/>
              </a:rPr>
              <a:t>        }</a:t>
            </a:r>
          </a:p>
          <a:p>
            <a:pPr algn="l"/>
            <a:r>
              <a:rPr sz="1050">
                <a:solidFill>
                  <a:srgbClr val="C8E0FF"/>
                </a:solidFill>
                <a:latin typeface="Consolas"/>
              </a:rPr>
              <a:t>    }</a:t>
            </a:r>
          </a:p>
          <a:p>
            <a:pPr algn="l"/>
            <a:r>
              <a:rPr sz="1050">
                <a:solidFill>
                  <a:srgbClr val="C8E0FF"/>
                </a:solidFill>
                <a:latin typeface="Consolas"/>
              </a:rPr>
              <a:t>);</a:t>
            </a:r>
          </a:p>
        </p:txBody>
      </p:sp>
      <p:sp>
        <p:nvSpPr>
          <p:cNvPr id="17" name="TextBox 16"/>
          <p:cNvSpPr txBox="1"/>
          <p:nvPr/>
        </p:nvSpPr>
        <p:spPr>
          <a:xfrm>
            <a:off x="7452360" y="4773168"/>
            <a:ext cx="4160520" cy="365760"/>
          </a:xfrm>
          <a:prstGeom prst="rect">
            <a:avLst/>
          </a:prstGeom>
          <a:noFill/>
        </p:spPr>
        <p:txBody>
          <a:bodyPr wrap="square">
            <a:spAutoFit/>
          </a:bodyPr>
          <a:lstStyle/>
          <a:p>
            <a:pPr algn="l"/>
            <a:r>
              <a:rPr sz="1400" b="1" i="0">
                <a:solidFill>
                  <a:srgbClr val="1A1A2E"/>
                </a:solidFill>
                <a:latin typeface="Segoe UI"/>
              </a:rPr>
              <a:t>Eventos utilizados</a:t>
            </a:r>
          </a:p>
        </p:txBody>
      </p:sp>
      <p:sp>
        <p:nvSpPr>
          <p:cNvPr id="18" name="TextBox 17"/>
          <p:cNvSpPr txBox="1"/>
          <p:nvPr/>
        </p:nvSpPr>
        <p:spPr>
          <a:xfrm>
            <a:off x="7452360" y="5166360"/>
            <a:ext cx="4160520" cy="1371600"/>
          </a:xfrm>
          <a:prstGeom prst="rect">
            <a:avLst/>
          </a:prstGeom>
          <a:noFill/>
        </p:spPr>
        <p:txBody>
          <a:bodyPr wrap="square">
            <a:spAutoFit/>
          </a:bodyPr>
          <a:lstStyle/>
          <a:p>
            <a:pPr algn="l"/>
            <a:r>
              <a:rPr sz="1050">
                <a:solidFill>
                  <a:srgbClr val="E94560"/>
                </a:solidFill>
                <a:latin typeface="Segoe UI"/>
              </a:rPr>
              <a:t>● </a:t>
            </a:r>
            <a:r>
              <a:rPr sz="1150">
                <a:solidFill>
                  <a:srgbClr val="666666"/>
                </a:solidFill>
                <a:latin typeface="Segoe UI"/>
              </a:rPr>
              <a:t>click  — botones de navegación y carrito</a:t>
            </a:r>
          </a:p>
          <a:p>
            <a:pPr algn="l"/>
            <a:r>
              <a:rPr sz="1050">
                <a:solidFill>
                  <a:srgbClr val="E94560"/>
                </a:solidFill>
                <a:latin typeface="Segoe UI"/>
              </a:rPr>
              <a:t>● </a:t>
            </a:r>
            <a:r>
              <a:rPr sz="1150">
                <a:solidFill>
                  <a:srgbClr val="666666"/>
                </a:solidFill>
                <a:latin typeface="Segoe UI"/>
              </a:rPr>
              <a:t>submit — formularios de datos y pago</a:t>
            </a:r>
          </a:p>
          <a:p>
            <a:pPr algn="l"/>
            <a:r>
              <a:rPr sz="1050">
                <a:solidFill>
                  <a:srgbClr val="E94560"/>
                </a:solidFill>
                <a:latin typeface="Segoe UI"/>
              </a:rPr>
              <a:t>● </a:t>
            </a:r>
            <a:r>
              <a:rPr sz="1150">
                <a:solidFill>
                  <a:srgbClr val="666666"/>
                </a:solidFill>
                <a:latin typeface="Segoe UI"/>
              </a:rPr>
              <a:t>blur / input — validación en tiempo real</a:t>
            </a:r>
          </a:p>
          <a:p>
            <a:pPr algn="l"/>
            <a:r>
              <a:rPr sz="1050">
                <a:solidFill>
                  <a:srgbClr val="E94560"/>
                </a:solidFill>
                <a:latin typeface="Segoe UI"/>
              </a:rPr>
              <a:t>● </a:t>
            </a:r>
            <a:r>
              <a:rPr sz="1150">
                <a:solidFill>
                  <a:srgbClr val="666666"/>
                </a:solidFill>
                <a:latin typeface="Segoe UI"/>
              </a:rPr>
              <a:t>change — cambio de método de pago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716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71600"/>
            <a:ext cx="12188952" cy="73152"/>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82880"/>
            <a:ext cx="10972800" cy="822960"/>
          </a:xfrm>
          <a:prstGeom prst="rect">
            <a:avLst/>
          </a:prstGeom>
          <a:noFill/>
        </p:spPr>
        <p:txBody>
          <a:bodyPr wrap="square">
            <a:spAutoFit/>
          </a:bodyPr>
          <a:lstStyle/>
          <a:p>
            <a:pPr algn="l"/>
            <a:r>
              <a:rPr sz="3200" b="1" i="0">
                <a:solidFill>
                  <a:srgbClr val="FFFFFF"/>
                </a:solidFill>
                <a:latin typeface="Segoe UI"/>
              </a:rPr>
              <a:t>Librería Externa — Toastify JS</a:t>
            </a:r>
          </a:p>
        </p:txBody>
      </p:sp>
      <p:sp>
        <p:nvSpPr>
          <p:cNvPr id="6" name="TextBox 5"/>
          <p:cNvSpPr txBox="1"/>
          <p:nvPr/>
        </p:nvSpPr>
        <p:spPr>
          <a:xfrm>
            <a:off x="457200" y="868680"/>
            <a:ext cx="10972800" cy="502920"/>
          </a:xfrm>
          <a:prstGeom prst="rect">
            <a:avLst/>
          </a:prstGeom>
          <a:noFill/>
        </p:spPr>
        <p:txBody>
          <a:bodyPr wrap="square">
            <a:spAutoFit/>
          </a:bodyPr>
          <a:lstStyle/>
          <a:p>
            <a:pPr algn="l"/>
            <a:r>
              <a:rPr sz="1500" b="0" i="0">
                <a:solidFill>
                  <a:srgbClr val="CCCCDD"/>
                </a:solidFill>
                <a:latin typeface="Segoe UI"/>
              </a:rPr>
              <a:t>Notificaciones toast en reemplazo de alert(), confirm() y prompt()</a:t>
            </a:r>
          </a:p>
        </p:txBody>
      </p:sp>
      <p:sp>
        <p:nvSpPr>
          <p:cNvPr id="7" name="TextBox 6"/>
          <p:cNvSpPr txBox="1"/>
          <p:nvPr/>
        </p:nvSpPr>
        <p:spPr>
          <a:xfrm>
            <a:off x="411480" y="1572768"/>
            <a:ext cx="5943600" cy="411480"/>
          </a:xfrm>
          <a:prstGeom prst="rect">
            <a:avLst/>
          </a:prstGeom>
          <a:noFill/>
        </p:spPr>
        <p:txBody>
          <a:bodyPr wrap="square">
            <a:spAutoFit/>
          </a:bodyPr>
          <a:lstStyle/>
          <a:p>
            <a:pPr algn="l"/>
            <a:r>
              <a:rPr sz="1400" b="1" i="0">
                <a:solidFill>
                  <a:srgbClr val="1A1A2E"/>
                </a:solidFill>
                <a:latin typeface="Segoe UI"/>
              </a:rPr>
              <a:t>Implementación en el proyecto</a:t>
            </a:r>
          </a:p>
        </p:txBody>
      </p:sp>
      <p:sp>
        <p:nvSpPr>
          <p:cNvPr id="8" name="Rectangle 7"/>
          <p:cNvSpPr/>
          <p:nvPr/>
        </p:nvSpPr>
        <p:spPr>
          <a:xfrm>
            <a:off x="411480" y="1965960"/>
            <a:ext cx="5943600" cy="438912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1965960"/>
            <a:ext cx="64008" cy="438912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103120"/>
            <a:ext cx="5715000" cy="4114800"/>
          </a:xfrm>
          <a:prstGeom prst="rect">
            <a:avLst/>
          </a:prstGeom>
          <a:noFill/>
        </p:spPr>
        <p:txBody>
          <a:bodyPr wrap="none">
            <a:spAutoFit/>
          </a:bodyPr>
          <a:lstStyle/>
          <a:p>
            <a:pPr algn="l"/>
            <a:r>
              <a:rPr sz="1050">
                <a:solidFill>
                  <a:srgbClr val="C8E0FF"/>
                </a:solidFill>
                <a:latin typeface="Consolas"/>
              </a:rPr>
              <a:t>&lt;!-- Carga desde CDN en index.html --&gt;</a:t>
            </a:r>
          </a:p>
          <a:p>
            <a:pPr algn="l"/>
            <a:r>
              <a:rPr sz="1050">
                <a:solidFill>
                  <a:srgbClr val="C8E0FF"/>
                </a:solidFill>
                <a:latin typeface="Consolas"/>
              </a:rPr>
              <a:t>&lt;script src="https://cdn.jsdelivr.net/</a:t>
            </a:r>
          </a:p>
          <a:p>
            <a:pPr algn="l"/>
            <a:r>
              <a:rPr sz="1050">
                <a:solidFill>
                  <a:srgbClr val="C8E0FF"/>
                </a:solidFill>
                <a:latin typeface="Consolas"/>
              </a:rPr>
              <a:t>   npm/toastify-js"&gt;&lt;/script&gt;</a:t>
            </a:r>
          </a:p>
          <a:p>
            <a:pPr algn="l"/>
            <a:r>
              <a:rPr sz="1050">
                <a:solidFill>
                  <a:srgbClr val="C8E0FF"/>
                </a:solidFill>
                <a:latin typeface="Consolas"/>
              </a:rPr>
              <a:t/>
            </a:r>
          </a:p>
          <a:p>
            <a:pPr algn="l"/>
            <a:r>
              <a:rPr sz="1050">
                <a:solidFill>
                  <a:srgbClr val="C8E0FF"/>
                </a:solidFill>
                <a:latin typeface="Consolas"/>
              </a:rPr>
              <a:t>// Función wrapper en app.js</a:t>
            </a:r>
          </a:p>
          <a:p>
            <a:pPr algn="l"/>
            <a:r>
              <a:rPr sz="1050">
                <a:solidFill>
                  <a:srgbClr val="C8E0FF"/>
                </a:solidFill>
                <a:latin typeface="Consolas"/>
              </a:rPr>
              <a:t>function mostrarToast(mensaje, tipo) {</a:t>
            </a:r>
          </a:p>
          <a:p>
            <a:pPr algn="l"/>
            <a:r>
              <a:rPr sz="1050">
                <a:solidFill>
                  <a:srgbClr val="C8E0FF"/>
                </a:solidFill>
                <a:latin typeface="Consolas"/>
              </a:rPr>
              <a:t>    var colores = {</a:t>
            </a:r>
          </a:p>
          <a:p>
            <a:pPr algn="l"/>
            <a:r>
              <a:rPr sz="1050">
                <a:solidFill>
                  <a:srgbClr val="C8E0FF"/>
                </a:solidFill>
                <a:latin typeface="Consolas"/>
              </a:rPr>
              <a:t>        ok:    "#4caf50",   // verde</a:t>
            </a:r>
          </a:p>
          <a:p>
            <a:pPr algn="l"/>
            <a:r>
              <a:rPr sz="1050">
                <a:solidFill>
                  <a:srgbClr val="C8E0FF"/>
                </a:solidFill>
                <a:latin typeface="Consolas"/>
              </a:rPr>
              <a:t>        error: "#e94560",   // rojo</a:t>
            </a:r>
          </a:p>
          <a:p>
            <a:pPr algn="l"/>
            <a:r>
              <a:rPr sz="1050">
                <a:solidFill>
                  <a:srgbClr val="C8E0FF"/>
                </a:solidFill>
                <a:latin typeface="Consolas"/>
              </a:rPr>
              <a:t>        info:  "#0f3460"    // azul</a:t>
            </a:r>
          </a:p>
          <a:p>
            <a:pPr algn="l"/>
            <a:r>
              <a:rPr sz="1050">
                <a:solidFill>
                  <a:srgbClr val="C8E0FF"/>
                </a:solidFill>
                <a:latin typeface="Consolas"/>
              </a:rPr>
              <a:t>    };</a:t>
            </a:r>
          </a:p>
          <a:p>
            <a:pPr algn="l"/>
            <a:r>
              <a:rPr sz="1050">
                <a:solidFill>
                  <a:srgbClr val="C8E0FF"/>
                </a:solidFill>
                <a:latin typeface="Consolas"/>
              </a:rPr>
              <a:t/>
            </a:r>
          </a:p>
          <a:p>
            <a:pPr algn="l"/>
            <a:r>
              <a:rPr sz="1050">
                <a:solidFill>
                  <a:srgbClr val="C8E0FF"/>
                </a:solidFill>
                <a:latin typeface="Consolas"/>
              </a:rPr>
              <a:t>    Toastify({</a:t>
            </a:r>
          </a:p>
          <a:p>
            <a:pPr algn="l"/>
            <a:r>
              <a:rPr sz="1050">
                <a:solidFill>
                  <a:srgbClr val="C8E0FF"/>
                </a:solidFill>
                <a:latin typeface="Consolas"/>
              </a:rPr>
              <a:t>        text:     mensaje,</a:t>
            </a:r>
          </a:p>
          <a:p>
            <a:pPr algn="l"/>
            <a:r>
              <a:rPr sz="1050">
                <a:solidFill>
                  <a:srgbClr val="C8E0FF"/>
                </a:solidFill>
                <a:latin typeface="Consolas"/>
              </a:rPr>
              <a:t>        duration: 2500,</a:t>
            </a:r>
          </a:p>
          <a:p>
            <a:pPr algn="l"/>
            <a:r>
              <a:rPr sz="1050">
                <a:solidFill>
                  <a:srgbClr val="C8E0FF"/>
                </a:solidFill>
                <a:latin typeface="Consolas"/>
              </a:rPr>
              <a:t>        gravity:  "bottom",</a:t>
            </a:r>
          </a:p>
          <a:p>
            <a:pPr algn="l"/>
            <a:r>
              <a:rPr sz="1050">
                <a:solidFill>
                  <a:srgbClr val="C8E0FF"/>
                </a:solidFill>
                <a:latin typeface="Consolas"/>
              </a:rPr>
              <a:t>        position: "right",</a:t>
            </a:r>
          </a:p>
          <a:p>
            <a:pPr algn="l"/>
            <a:r>
              <a:rPr sz="1050">
                <a:solidFill>
                  <a:srgbClr val="C8E0FF"/>
                </a:solidFill>
                <a:latin typeface="Consolas"/>
              </a:rPr>
              <a:t>        style: {</a:t>
            </a:r>
          </a:p>
          <a:p>
            <a:pPr algn="l"/>
            <a:r>
              <a:rPr sz="1050">
                <a:solidFill>
                  <a:srgbClr val="C8E0FF"/>
                </a:solidFill>
                <a:latin typeface="Consolas"/>
              </a:rPr>
              <a:t>            background: colores[tipo] || colores.info</a:t>
            </a:r>
          </a:p>
          <a:p>
            <a:pPr algn="l"/>
            <a:r>
              <a:rPr sz="1050">
                <a:solidFill>
                  <a:srgbClr val="C8E0FF"/>
                </a:solidFill>
                <a:latin typeface="Consolas"/>
              </a:rPr>
              <a:t>        }</a:t>
            </a:r>
          </a:p>
          <a:p>
            <a:pPr algn="l"/>
            <a:r>
              <a:rPr sz="1050">
                <a:solidFill>
                  <a:srgbClr val="C8E0FF"/>
                </a:solidFill>
                <a:latin typeface="Consolas"/>
              </a:rPr>
              <a:t>    }).showToast();</a:t>
            </a:r>
          </a:p>
          <a:p>
            <a:pPr algn="l"/>
            <a:r>
              <a:rPr sz="1050">
                <a:solidFill>
                  <a:srgbClr val="C8E0FF"/>
                </a:solidFill>
                <a:latin typeface="Consolas"/>
              </a:rPr>
              <a:t>}</a:t>
            </a:r>
          </a:p>
        </p:txBody>
      </p:sp>
      <p:sp>
        <p:nvSpPr>
          <p:cNvPr id="11" name="Rectangle 10"/>
          <p:cNvSpPr/>
          <p:nvPr/>
        </p:nvSpPr>
        <p:spPr>
          <a:xfrm>
            <a:off x="6583680" y="1572768"/>
            <a:ext cx="5166360" cy="2286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0" y="1572768"/>
            <a:ext cx="5166360" cy="54864"/>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66560" y="1636776"/>
            <a:ext cx="4754880" cy="411480"/>
          </a:xfrm>
          <a:prstGeom prst="rect">
            <a:avLst/>
          </a:prstGeom>
          <a:noFill/>
        </p:spPr>
        <p:txBody>
          <a:bodyPr wrap="square">
            <a:spAutoFit/>
          </a:bodyPr>
          <a:lstStyle/>
          <a:p>
            <a:pPr algn="l"/>
            <a:r>
              <a:rPr sz="1500" b="1" i="0">
                <a:solidFill>
                  <a:srgbClr val="1A1A2E"/>
                </a:solidFill>
                <a:latin typeface="Segoe UI"/>
              </a:rPr>
              <a:t>¿Por qué Toastify?</a:t>
            </a:r>
          </a:p>
        </p:txBody>
      </p:sp>
      <p:sp>
        <p:nvSpPr>
          <p:cNvPr id="14" name="TextBox 13"/>
          <p:cNvSpPr txBox="1"/>
          <p:nvPr/>
        </p:nvSpPr>
        <p:spPr>
          <a:xfrm>
            <a:off x="6766560" y="2084831"/>
            <a:ext cx="4754880" cy="1737360"/>
          </a:xfrm>
          <a:prstGeom prst="rect">
            <a:avLst/>
          </a:prstGeom>
          <a:noFill/>
        </p:spPr>
        <p:txBody>
          <a:bodyPr wrap="square">
            <a:spAutoFit/>
          </a:bodyPr>
          <a:lstStyle/>
          <a:p>
            <a:pPr algn="l"/>
            <a:r>
              <a:rPr sz="1100">
                <a:solidFill>
                  <a:srgbClr val="E94560"/>
                </a:solidFill>
                <a:latin typeface="Segoe UI"/>
              </a:rPr>
              <a:t>● </a:t>
            </a:r>
            <a:r>
              <a:rPr sz="1200">
                <a:solidFill>
                  <a:srgbClr val="666666"/>
                </a:solidFill>
                <a:latin typeface="Segoe UI"/>
              </a:rPr>
              <a:t>Elimina alert(), confirm() y prompt() (requisito del curso)</a:t>
            </a:r>
          </a:p>
          <a:p>
            <a:pPr algn="l"/>
            <a:r>
              <a:rPr sz="1100">
                <a:solidFill>
                  <a:srgbClr val="E94560"/>
                </a:solidFill>
                <a:latin typeface="Segoe UI"/>
              </a:rPr>
              <a:t>● </a:t>
            </a:r>
            <a:r>
              <a:rPr sz="1200">
                <a:solidFill>
                  <a:srgbClr val="666666"/>
                </a:solidFill>
                <a:latin typeface="Segoe UI"/>
              </a:rPr>
              <a:t>Notificaciones no bloqueantes → mejor UX</a:t>
            </a:r>
          </a:p>
          <a:p>
            <a:pPr algn="l"/>
            <a:r>
              <a:rPr sz="1100">
                <a:solidFill>
                  <a:srgbClr val="E94560"/>
                </a:solidFill>
                <a:latin typeface="Segoe UI"/>
              </a:rPr>
              <a:t>● </a:t>
            </a:r>
            <a:r>
              <a:rPr sz="1200">
                <a:solidFill>
                  <a:srgbClr val="666666"/>
                </a:solidFill>
                <a:latin typeface="Segoe UI"/>
              </a:rPr>
              <a:t>3 tipos: ok (verde), error (rojo), info (azul)</a:t>
            </a:r>
          </a:p>
          <a:p>
            <a:pPr algn="l"/>
            <a:r>
              <a:rPr sz="1100">
                <a:solidFill>
                  <a:srgbClr val="E94560"/>
                </a:solidFill>
                <a:latin typeface="Segoe UI"/>
              </a:rPr>
              <a:t>● </a:t>
            </a:r>
            <a:r>
              <a:rPr sz="1200">
                <a:solidFill>
                  <a:srgbClr val="666666"/>
                </a:solidFill>
                <a:latin typeface="Segoe UI"/>
              </a:rPr>
              <a:t>Posición y duración configurables</a:t>
            </a:r>
          </a:p>
          <a:p>
            <a:pPr algn="l"/>
            <a:r>
              <a:rPr sz="1100">
                <a:solidFill>
                  <a:srgbClr val="E94560"/>
                </a:solidFill>
                <a:latin typeface="Segoe UI"/>
              </a:rPr>
              <a:t>● </a:t>
            </a:r>
            <a:r>
              <a:rPr sz="1200">
                <a:solidFill>
                  <a:srgbClr val="666666"/>
                </a:solidFill>
                <a:latin typeface="Segoe UI"/>
              </a:rPr>
              <a:t>Integración con una sola función wrapper</a:t>
            </a:r>
          </a:p>
        </p:txBody>
      </p:sp>
      <p:sp>
        <p:nvSpPr>
          <p:cNvPr id="15" name="Rectangle 14"/>
          <p:cNvSpPr/>
          <p:nvPr/>
        </p:nvSpPr>
        <p:spPr>
          <a:xfrm>
            <a:off x="6583680" y="3977639"/>
            <a:ext cx="5166360" cy="2560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583680" y="3977639"/>
            <a:ext cx="5166360" cy="54864"/>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66560" y="4041648"/>
            <a:ext cx="4754880" cy="411480"/>
          </a:xfrm>
          <a:prstGeom prst="rect">
            <a:avLst/>
          </a:prstGeom>
          <a:noFill/>
        </p:spPr>
        <p:txBody>
          <a:bodyPr wrap="square">
            <a:spAutoFit/>
          </a:bodyPr>
          <a:lstStyle/>
          <a:p>
            <a:pPr algn="l"/>
            <a:r>
              <a:rPr sz="1400" b="1" i="0">
                <a:solidFill>
                  <a:srgbClr val="1A1A2E"/>
                </a:solidFill>
                <a:latin typeface="Segoe UI"/>
              </a:rPr>
              <a:t>Dónde se usa mostrarToast()</a:t>
            </a:r>
          </a:p>
        </p:txBody>
      </p:sp>
      <p:sp>
        <p:nvSpPr>
          <p:cNvPr id="18" name="Rectangle 17"/>
          <p:cNvSpPr/>
          <p:nvPr/>
        </p:nvSpPr>
        <p:spPr>
          <a:xfrm>
            <a:off x="6766560" y="4526280"/>
            <a:ext cx="502920" cy="201168"/>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75704" y="4535424"/>
            <a:ext cx="493776" cy="182880"/>
          </a:xfrm>
          <a:prstGeom prst="rect">
            <a:avLst/>
          </a:prstGeom>
          <a:noFill/>
        </p:spPr>
        <p:txBody>
          <a:bodyPr wrap="square">
            <a:spAutoFit/>
          </a:bodyPr>
          <a:lstStyle/>
          <a:p>
            <a:pPr algn="ctr"/>
            <a:r>
              <a:rPr sz="900" b="1" i="0">
                <a:solidFill>
                  <a:srgbClr val="FFFFFF"/>
                </a:solidFill>
                <a:latin typeface="Segoe UI"/>
              </a:rPr>
              <a:t>ok</a:t>
            </a:r>
          </a:p>
        </p:txBody>
      </p:sp>
      <p:sp>
        <p:nvSpPr>
          <p:cNvPr id="20" name="TextBox 19"/>
          <p:cNvSpPr txBox="1"/>
          <p:nvPr/>
        </p:nvSpPr>
        <p:spPr>
          <a:xfrm>
            <a:off x="7333488" y="4526280"/>
            <a:ext cx="4114800" cy="228600"/>
          </a:xfrm>
          <a:prstGeom prst="rect">
            <a:avLst/>
          </a:prstGeom>
          <a:noFill/>
        </p:spPr>
        <p:txBody>
          <a:bodyPr wrap="square">
            <a:spAutoFit/>
          </a:bodyPr>
          <a:lstStyle/>
          <a:p>
            <a:pPr algn="l"/>
            <a:r>
              <a:rPr sz="1100" b="0" i="0">
                <a:solidFill>
                  <a:srgbClr val="666666"/>
                </a:solidFill>
                <a:latin typeface="Segoe UI"/>
              </a:rPr>
              <a:t>Producto agregado al carrito</a:t>
            </a:r>
          </a:p>
        </p:txBody>
      </p:sp>
      <p:sp>
        <p:nvSpPr>
          <p:cNvPr id="21" name="Rectangle 20"/>
          <p:cNvSpPr/>
          <p:nvPr/>
        </p:nvSpPr>
        <p:spPr>
          <a:xfrm>
            <a:off x="6766560" y="4782312"/>
            <a:ext cx="502920" cy="201168"/>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75704" y="4791456"/>
            <a:ext cx="493776" cy="182880"/>
          </a:xfrm>
          <a:prstGeom prst="rect">
            <a:avLst/>
          </a:prstGeom>
          <a:noFill/>
        </p:spPr>
        <p:txBody>
          <a:bodyPr wrap="square">
            <a:spAutoFit/>
          </a:bodyPr>
          <a:lstStyle/>
          <a:p>
            <a:pPr algn="ctr"/>
            <a:r>
              <a:rPr sz="900" b="1" i="0">
                <a:solidFill>
                  <a:srgbClr val="FFFFFF"/>
                </a:solidFill>
                <a:latin typeface="Segoe UI"/>
              </a:rPr>
              <a:t>ok</a:t>
            </a:r>
          </a:p>
        </p:txBody>
      </p:sp>
      <p:sp>
        <p:nvSpPr>
          <p:cNvPr id="23" name="TextBox 22"/>
          <p:cNvSpPr txBox="1"/>
          <p:nvPr/>
        </p:nvSpPr>
        <p:spPr>
          <a:xfrm>
            <a:off x="7333488" y="4782312"/>
            <a:ext cx="4114800" cy="228600"/>
          </a:xfrm>
          <a:prstGeom prst="rect">
            <a:avLst/>
          </a:prstGeom>
          <a:noFill/>
        </p:spPr>
        <p:txBody>
          <a:bodyPr wrap="square">
            <a:spAutoFit/>
          </a:bodyPr>
          <a:lstStyle/>
          <a:p>
            <a:pPr algn="l"/>
            <a:r>
              <a:rPr sz="1100" b="0" i="0">
                <a:solidFill>
                  <a:srgbClr val="666666"/>
                </a:solidFill>
                <a:latin typeface="Segoe UI"/>
              </a:rPr>
              <a:t>Pedido confirmado con éxito</a:t>
            </a:r>
          </a:p>
        </p:txBody>
      </p:sp>
      <p:sp>
        <p:nvSpPr>
          <p:cNvPr id="24" name="Rectangle 23"/>
          <p:cNvSpPr/>
          <p:nvPr/>
        </p:nvSpPr>
        <p:spPr>
          <a:xfrm>
            <a:off x="6766560" y="5038344"/>
            <a:ext cx="502920" cy="201168"/>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75704" y="5047488"/>
            <a:ext cx="493776" cy="182880"/>
          </a:xfrm>
          <a:prstGeom prst="rect">
            <a:avLst/>
          </a:prstGeom>
          <a:noFill/>
        </p:spPr>
        <p:txBody>
          <a:bodyPr wrap="square">
            <a:spAutoFit/>
          </a:bodyPr>
          <a:lstStyle/>
          <a:p>
            <a:pPr algn="ctr"/>
            <a:r>
              <a:rPr sz="900" b="1" i="0">
                <a:solidFill>
                  <a:srgbClr val="FFFFFF"/>
                </a:solidFill>
                <a:latin typeface="Segoe UI"/>
              </a:rPr>
              <a:t>error</a:t>
            </a:r>
          </a:p>
        </p:txBody>
      </p:sp>
      <p:sp>
        <p:nvSpPr>
          <p:cNvPr id="26" name="TextBox 25"/>
          <p:cNvSpPr txBox="1"/>
          <p:nvPr/>
        </p:nvSpPr>
        <p:spPr>
          <a:xfrm>
            <a:off x="7333488" y="5038344"/>
            <a:ext cx="4114800" cy="228600"/>
          </a:xfrm>
          <a:prstGeom prst="rect">
            <a:avLst/>
          </a:prstGeom>
          <a:noFill/>
        </p:spPr>
        <p:txBody>
          <a:bodyPr wrap="square">
            <a:spAutoFit/>
          </a:bodyPr>
          <a:lstStyle/>
          <a:p>
            <a:pPr algn="l"/>
            <a:r>
              <a:rPr sz="1100" b="0" i="0">
                <a:solidFill>
                  <a:srgbClr val="666666"/>
                </a:solidFill>
                <a:latin typeface="Segoe UI"/>
              </a:rPr>
              <a:t>Sin stock del producto</a:t>
            </a:r>
          </a:p>
        </p:txBody>
      </p:sp>
      <p:sp>
        <p:nvSpPr>
          <p:cNvPr id="27" name="Rectangle 26"/>
          <p:cNvSpPr/>
          <p:nvPr/>
        </p:nvSpPr>
        <p:spPr>
          <a:xfrm>
            <a:off x="6766560" y="5294376"/>
            <a:ext cx="502920" cy="201168"/>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75704" y="5303520"/>
            <a:ext cx="493776" cy="182880"/>
          </a:xfrm>
          <a:prstGeom prst="rect">
            <a:avLst/>
          </a:prstGeom>
          <a:noFill/>
        </p:spPr>
        <p:txBody>
          <a:bodyPr wrap="square">
            <a:spAutoFit/>
          </a:bodyPr>
          <a:lstStyle/>
          <a:p>
            <a:pPr algn="ctr"/>
            <a:r>
              <a:rPr sz="900" b="1" i="0">
                <a:solidFill>
                  <a:srgbClr val="FFFFFF"/>
                </a:solidFill>
                <a:latin typeface="Segoe UI"/>
              </a:rPr>
              <a:t>error</a:t>
            </a:r>
          </a:p>
        </p:txBody>
      </p:sp>
      <p:sp>
        <p:nvSpPr>
          <p:cNvPr id="29" name="TextBox 28"/>
          <p:cNvSpPr txBox="1"/>
          <p:nvPr/>
        </p:nvSpPr>
        <p:spPr>
          <a:xfrm>
            <a:off x="7333488" y="5294376"/>
            <a:ext cx="4114800" cy="228600"/>
          </a:xfrm>
          <a:prstGeom prst="rect">
            <a:avLst/>
          </a:prstGeom>
          <a:noFill/>
        </p:spPr>
        <p:txBody>
          <a:bodyPr wrap="square">
            <a:spAutoFit/>
          </a:bodyPr>
          <a:lstStyle/>
          <a:p>
            <a:pPr algn="l"/>
            <a:r>
              <a:rPr sz="1100" b="0" i="0">
                <a:solidFill>
                  <a:srgbClr val="666666"/>
                </a:solidFill>
                <a:latin typeface="Segoe UI"/>
              </a:rPr>
              <a:t>Carrito vacío</a:t>
            </a:r>
          </a:p>
        </p:txBody>
      </p:sp>
      <p:sp>
        <p:nvSpPr>
          <p:cNvPr id="30" name="Rectangle 29"/>
          <p:cNvSpPr/>
          <p:nvPr/>
        </p:nvSpPr>
        <p:spPr>
          <a:xfrm>
            <a:off x="6766560" y="5550408"/>
            <a:ext cx="502920" cy="201168"/>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75704" y="5559552"/>
            <a:ext cx="493776" cy="182880"/>
          </a:xfrm>
          <a:prstGeom prst="rect">
            <a:avLst/>
          </a:prstGeom>
          <a:noFill/>
        </p:spPr>
        <p:txBody>
          <a:bodyPr wrap="square">
            <a:spAutoFit/>
          </a:bodyPr>
          <a:lstStyle/>
          <a:p>
            <a:pPr algn="ctr"/>
            <a:r>
              <a:rPr sz="900" b="1" i="0">
                <a:solidFill>
                  <a:srgbClr val="FFFFFF"/>
                </a:solidFill>
                <a:latin typeface="Segoe UI"/>
              </a:rPr>
              <a:t>error</a:t>
            </a:r>
          </a:p>
        </p:txBody>
      </p:sp>
      <p:sp>
        <p:nvSpPr>
          <p:cNvPr id="32" name="TextBox 31"/>
          <p:cNvSpPr txBox="1"/>
          <p:nvPr/>
        </p:nvSpPr>
        <p:spPr>
          <a:xfrm>
            <a:off x="7333488" y="5550408"/>
            <a:ext cx="4114800" cy="228600"/>
          </a:xfrm>
          <a:prstGeom prst="rect">
            <a:avLst/>
          </a:prstGeom>
          <a:noFill/>
        </p:spPr>
        <p:txBody>
          <a:bodyPr wrap="square">
            <a:spAutoFit/>
          </a:bodyPr>
          <a:lstStyle/>
          <a:p>
            <a:pPr algn="l"/>
            <a:r>
              <a:rPr sz="1100" b="0" i="0">
                <a:solidFill>
                  <a:srgbClr val="666666"/>
                </a:solidFill>
                <a:latin typeface="Segoe UI"/>
              </a:rPr>
              <a:t>Campos del formulario incompletos</a:t>
            </a:r>
          </a:p>
        </p:txBody>
      </p:sp>
      <p:sp>
        <p:nvSpPr>
          <p:cNvPr id="33" name="Rectangle 32"/>
          <p:cNvSpPr/>
          <p:nvPr/>
        </p:nvSpPr>
        <p:spPr>
          <a:xfrm>
            <a:off x="6766560" y="5806440"/>
            <a:ext cx="502920" cy="201168"/>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75704" y="5815584"/>
            <a:ext cx="493776" cy="182880"/>
          </a:xfrm>
          <a:prstGeom prst="rect">
            <a:avLst/>
          </a:prstGeom>
          <a:noFill/>
        </p:spPr>
        <p:txBody>
          <a:bodyPr wrap="square">
            <a:spAutoFit/>
          </a:bodyPr>
          <a:lstStyle/>
          <a:p>
            <a:pPr algn="ctr"/>
            <a:r>
              <a:rPr sz="900" b="1" i="0">
                <a:solidFill>
                  <a:srgbClr val="FFFFFF"/>
                </a:solidFill>
                <a:latin typeface="Segoe UI"/>
              </a:rPr>
              <a:t>info</a:t>
            </a:r>
          </a:p>
        </p:txBody>
      </p:sp>
      <p:sp>
        <p:nvSpPr>
          <p:cNvPr id="35" name="TextBox 34"/>
          <p:cNvSpPr txBox="1"/>
          <p:nvPr/>
        </p:nvSpPr>
        <p:spPr>
          <a:xfrm>
            <a:off x="7333488" y="5806440"/>
            <a:ext cx="4114800" cy="228600"/>
          </a:xfrm>
          <a:prstGeom prst="rect">
            <a:avLst/>
          </a:prstGeom>
          <a:noFill/>
        </p:spPr>
        <p:txBody>
          <a:bodyPr wrap="square">
            <a:spAutoFit/>
          </a:bodyPr>
          <a:lstStyle/>
          <a:p>
            <a:pPr algn="l"/>
            <a:r>
              <a:rPr sz="1100" b="0" i="0">
                <a:solidFill>
                  <a:srgbClr val="666666"/>
                </a:solidFill>
                <a:latin typeface="Segoe UI"/>
              </a:rPr>
              <a:t>Carrito vaciado</a:t>
            </a:r>
          </a:p>
        </p:txBody>
      </p:sp>
      <p:sp>
        <p:nvSpPr>
          <p:cNvPr id="36" name="Rectangle 35"/>
          <p:cNvSpPr/>
          <p:nvPr/>
        </p:nvSpPr>
        <p:spPr>
          <a:xfrm>
            <a:off x="6766560" y="6062472"/>
            <a:ext cx="502920" cy="201168"/>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775704" y="6071616"/>
            <a:ext cx="493776" cy="182880"/>
          </a:xfrm>
          <a:prstGeom prst="rect">
            <a:avLst/>
          </a:prstGeom>
          <a:noFill/>
        </p:spPr>
        <p:txBody>
          <a:bodyPr wrap="square">
            <a:spAutoFit/>
          </a:bodyPr>
          <a:lstStyle/>
          <a:p>
            <a:pPr algn="ctr"/>
            <a:r>
              <a:rPr sz="900" b="1" i="0">
                <a:solidFill>
                  <a:srgbClr val="FFFFFF"/>
                </a:solidFill>
                <a:latin typeface="Segoe UI"/>
              </a:rPr>
              <a:t>info</a:t>
            </a:r>
          </a:p>
        </p:txBody>
      </p:sp>
      <p:sp>
        <p:nvSpPr>
          <p:cNvPr id="38" name="TextBox 37"/>
          <p:cNvSpPr txBox="1"/>
          <p:nvPr/>
        </p:nvSpPr>
        <p:spPr>
          <a:xfrm>
            <a:off x="7333488" y="6062472"/>
            <a:ext cx="4114800" cy="228600"/>
          </a:xfrm>
          <a:prstGeom prst="rect">
            <a:avLst/>
          </a:prstGeom>
          <a:noFill/>
        </p:spPr>
        <p:txBody>
          <a:bodyPr wrap="square">
            <a:spAutoFit/>
          </a:bodyPr>
          <a:lstStyle/>
          <a:p>
            <a:pPr algn="l"/>
            <a:r>
              <a:rPr sz="1100" b="0" i="0">
                <a:solidFill>
                  <a:srgbClr val="666666"/>
                </a:solidFill>
                <a:latin typeface="Segoe UI"/>
              </a:rPr>
              <a:t>Producto eliminado del carrito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 y="0"/>
            <a:ext cx="12024360" cy="9144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548640"/>
            <a:ext cx="10058400" cy="914400"/>
          </a:xfrm>
          <a:prstGeom prst="rect">
            <a:avLst/>
          </a:prstGeom>
          <a:noFill/>
        </p:spPr>
        <p:txBody>
          <a:bodyPr wrap="square">
            <a:spAutoFit/>
          </a:bodyPr>
          <a:lstStyle/>
          <a:p>
            <a:pPr algn="l"/>
            <a:r>
              <a:rPr sz="4200" b="1" i="0">
                <a:solidFill>
                  <a:srgbClr val="FFFFFF"/>
                </a:solidFill>
                <a:latin typeface="Segoe UI"/>
              </a:rPr>
              <a:t>Repositorio</a:t>
            </a:r>
          </a:p>
        </p:txBody>
      </p:sp>
      <p:sp>
        <p:nvSpPr>
          <p:cNvPr id="6" name="Rectangle 5"/>
          <p:cNvSpPr/>
          <p:nvPr/>
        </p:nvSpPr>
        <p:spPr>
          <a:xfrm>
            <a:off x="914400" y="1508760"/>
            <a:ext cx="5486400" cy="73152"/>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1371600" cy="1371600"/>
          </a:xfrm>
          <a:prstGeom prst="rect">
            <a:avLst/>
          </a:prstGeom>
          <a:noFill/>
        </p:spPr>
        <p:txBody>
          <a:bodyPr wrap="square">
            <a:spAutoFit/>
          </a:bodyPr>
          <a:lstStyle/>
          <a:p>
            <a:pPr algn="ctr"/>
            <a:r>
              <a:rPr sz="7200" b="0" i="0">
                <a:solidFill>
                  <a:srgbClr val="FFFFFF"/>
                </a:solidFill>
                <a:latin typeface="Segoe UI"/>
              </a:rPr>
              <a:t>⌥</a:t>
            </a:r>
          </a:p>
        </p:txBody>
      </p:sp>
      <p:sp>
        <p:nvSpPr>
          <p:cNvPr id="8" name="Rectangle 7"/>
          <p:cNvSpPr/>
          <p:nvPr/>
        </p:nvSpPr>
        <p:spPr>
          <a:xfrm>
            <a:off x="2560320" y="2011680"/>
            <a:ext cx="8686800" cy="658368"/>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0" y="2084831"/>
            <a:ext cx="8321040" cy="502920"/>
          </a:xfrm>
          <a:prstGeom prst="rect">
            <a:avLst/>
          </a:prstGeom>
          <a:noFill/>
        </p:spPr>
        <p:txBody>
          <a:bodyPr wrap="square">
            <a:spAutoFit/>
          </a:bodyPr>
          <a:lstStyle/>
          <a:p>
            <a:pPr algn="l"/>
            <a:r>
              <a:rPr sz="1900" b="1" i="0">
                <a:solidFill>
                  <a:srgbClr val="FFFFFF"/>
                </a:solidFill>
                <a:latin typeface="Segoe UI"/>
              </a:rPr>
              <a:t>🔗  github.com / [tu-usuario] / ecommerce-js</a:t>
            </a:r>
          </a:p>
        </p:txBody>
      </p:sp>
      <p:sp>
        <p:nvSpPr>
          <p:cNvPr id="10" name="TextBox 9"/>
          <p:cNvSpPr txBox="1"/>
          <p:nvPr/>
        </p:nvSpPr>
        <p:spPr>
          <a:xfrm>
            <a:off x="2560320" y="2788920"/>
            <a:ext cx="8686800" cy="457200"/>
          </a:xfrm>
          <a:prstGeom prst="rect">
            <a:avLst/>
          </a:prstGeom>
          <a:noFill/>
        </p:spPr>
        <p:txBody>
          <a:bodyPr wrap="square">
            <a:spAutoFit/>
          </a:bodyPr>
          <a:lstStyle/>
          <a:p>
            <a:pPr algn="l"/>
            <a:r>
              <a:rPr sz="1300" b="0" i="1">
                <a:solidFill>
                  <a:srgbClr val="FFDD57"/>
                </a:solidFill>
                <a:latin typeface="Segoe UI"/>
              </a:rPr>
              <a:t>⚠  Completar con el link real del repositorio antes de entregar</a:t>
            </a:r>
          </a:p>
        </p:txBody>
      </p:sp>
      <p:sp>
        <p:nvSpPr>
          <p:cNvPr id="11" name="Rectangle 10"/>
          <p:cNvSpPr/>
          <p:nvPr/>
        </p:nvSpPr>
        <p:spPr>
          <a:xfrm>
            <a:off x="914400" y="3429000"/>
            <a:ext cx="9875520" cy="256032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3611880"/>
            <a:ext cx="2560320" cy="411480"/>
          </a:xfrm>
          <a:prstGeom prst="rect">
            <a:avLst/>
          </a:prstGeom>
          <a:noFill/>
        </p:spPr>
        <p:txBody>
          <a:bodyPr wrap="square">
            <a:spAutoFit/>
          </a:bodyPr>
          <a:lstStyle/>
          <a:p>
            <a:pPr algn="l"/>
            <a:r>
              <a:rPr sz="1300" b="1" i="0">
                <a:solidFill>
                  <a:srgbClr val="CCDDFF"/>
                </a:solidFill>
                <a:latin typeface="Segoe UI"/>
              </a:rPr>
              <a:t>Rama principal:</a:t>
            </a:r>
          </a:p>
        </p:txBody>
      </p:sp>
      <p:sp>
        <p:nvSpPr>
          <p:cNvPr id="13" name="TextBox 12"/>
          <p:cNvSpPr txBox="1"/>
          <p:nvPr/>
        </p:nvSpPr>
        <p:spPr>
          <a:xfrm>
            <a:off x="3749039" y="3611880"/>
            <a:ext cx="6766560" cy="411480"/>
          </a:xfrm>
          <a:prstGeom prst="rect">
            <a:avLst/>
          </a:prstGeom>
          <a:noFill/>
        </p:spPr>
        <p:txBody>
          <a:bodyPr wrap="square">
            <a:spAutoFit/>
          </a:bodyPr>
          <a:lstStyle/>
          <a:p>
            <a:pPr algn="l"/>
            <a:r>
              <a:rPr sz="1300" b="0" i="0">
                <a:solidFill>
                  <a:srgbClr val="FFFFFF"/>
                </a:solidFill>
                <a:latin typeface="Segoe UI"/>
              </a:rPr>
              <a:t>main</a:t>
            </a:r>
          </a:p>
        </p:txBody>
      </p:sp>
      <p:sp>
        <p:nvSpPr>
          <p:cNvPr id="14" name="TextBox 13"/>
          <p:cNvSpPr txBox="1"/>
          <p:nvPr/>
        </p:nvSpPr>
        <p:spPr>
          <a:xfrm>
            <a:off x="1097280" y="4160520"/>
            <a:ext cx="2560320" cy="411480"/>
          </a:xfrm>
          <a:prstGeom prst="rect">
            <a:avLst/>
          </a:prstGeom>
          <a:noFill/>
        </p:spPr>
        <p:txBody>
          <a:bodyPr wrap="square">
            <a:spAutoFit/>
          </a:bodyPr>
          <a:lstStyle/>
          <a:p>
            <a:pPr algn="l"/>
            <a:r>
              <a:rPr sz="1300" b="1" i="0">
                <a:solidFill>
                  <a:srgbClr val="CCDDFF"/>
                </a:solidFill>
                <a:latin typeface="Segoe UI"/>
              </a:rPr>
              <a:t>Lenguajes:</a:t>
            </a:r>
          </a:p>
        </p:txBody>
      </p:sp>
      <p:sp>
        <p:nvSpPr>
          <p:cNvPr id="15" name="TextBox 14"/>
          <p:cNvSpPr txBox="1"/>
          <p:nvPr/>
        </p:nvSpPr>
        <p:spPr>
          <a:xfrm>
            <a:off x="3749039" y="4160520"/>
            <a:ext cx="6766560" cy="411480"/>
          </a:xfrm>
          <a:prstGeom prst="rect">
            <a:avLst/>
          </a:prstGeom>
          <a:noFill/>
        </p:spPr>
        <p:txBody>
          <a:bodyPr wrap="square">
            <a:spAutoFit/>
          </a:bodyPr>
          <a:lstStyle/>
          <a:p>
            <a:pPr algn="l"/>
            <a:r>
              <a:rPr sz="1300" b="0" i="0">
                <a:solidFill>
                  <a:srgbClr val="FFFFFF"/>
                </a:solidFill>
                <a:latin typeface="Segoe UI"/>
              </a:rPr>
              <a:t>HTML  ·  CSS  ·  JavaScript</a:t>
            </a:r>
          </a:p>
        </p:txBody>
      </p:sp>
      <p:sp>
        <p:nvSpPr>
          <p:cNvPr id="16" name="TextBox 15"/>
          <p:cNvSpPr txBox="1"/>
          <p:nvPr/>
        </p:nvSpPr>
        <p:spPr>
          <a:xfrm>
            <a:off x="1097280" y="4709160"/>
            <a:ext cx="2560320" cy="411480"/>
          </a:xfrm>
          <a:prstGeom prst="rect">
            <a:avLst/>
          </a:prstGeom>
          <a:noFill/>
        </p:spPr>
        <p:txBody>
          <a:bodyPr wrap="square">
            <a:spAutoFit/>
          </a:bodyPr>
          <a:lstStyle/>
          <a:p>
            <a:pPr algn="l"/>
            <a:r>
              <a:rPr sz="1300" b="1" i="0">
                <a:solidFill>
                  <a:srgbClr val="CCDDFF"/>
                </a:solidFill>
                <a:latin typeface="Segoe UI"/>
              </a:rPr>
              <a:t>Archivos clave:</a:t>
            </a:r>
          </a:p>
        </p:txBody>
      </p:sp>
      <p:sp>
        <p:nvSpPr>
          <p:cNvPr id="17" name="TextBox 16"/>
          <p:cNvSpPr txBox="1"/>
          <p:nvPr/>
        </p:nvSpPr>
        <p:spPr>
          <a:xfrm>
            <a:off x="3749039" y="4709160"/>
            <a:ext cx="6766560" cy="411480"/>
          </a:xfrm>
          <a:prstGeom prst="rect">
            <a:avLst/>
          </a:prstGeom>
          <a:noFill/>
        </p:spPr>
        <p:txBody>
          <a:bodyPr wrap="square">
            <a:spAutoFit/>
          </a:bodyPr>
          <a:lstStyle/>
          <a:p>
            <a:pPr algn="l"/>
            <a:r>
              <a:rPr sz="1300" b="0" i="0">
                <a:solidFill>
                  <a:srgbClr val="FFFFFF"/>
                </a:solidFill>
                <a:latin typeface="Segoe UI"/>
              </a:rPr>
              <a:t>index.html  ·  js/app.js  ·  css/style.css  ·  data/products.json</a:t>
            </a:r>
          </a:p>
        </p:txBody>
      </p:sp>
      <p:sp>
        <p:nvSpPr>
          <p:cNvPr id="18" name="TextBox 17"/>
          <p:cNvSpPr txBox="1"/>
          <p:nvPr/>
        </p:nvSpPr>
        <p:spPr>
          <a:xfrm>
            <a:off x="1097280" y="5257800"/>
            <a:ext cx="2560320" cy="411480"/>
          </a:xfrm>
          <a:prstGeom prst="rect">
            <a:avLst/>
          </a:prstGeom>
          <a:noFill/>
        </p:spPr>
        <p:txBody>
          <a:bodyPr wrap="square">
            <a:spAutoFit/>
          </a:bodyPr>
          <a:lstStyle/>
          <a:p>
            <a:pPr algn="l"/>
            <a:r>
              <a:rPr sz="1300" b="1" i="0">
                <a:solidFill>
                  <a:srgbClr val="CCDDFF"/>
                </a:solidFill>
                <a:latin typeface="Segoe UI"/>
              </a:rPr>
              <a:t>Dependencias:</a:t>
            </a:r>
          </a:p>
        </p:txBody>
      </p:sp>
      <p:sp>
        <p:nvSpPr>
          <p:cNvPr id="19" name="TextBox 18"/>
          <p:cNvSpPr txBox="1"/>
          <p:nvPr/>
        </p:nvSpPr>
        <p:spPr>
          <a:xfrm>
            <a:off x="3749039" y="5257800"/>
            <a:ext cx="6766560" cy="411480"/>
          </a:xfrm>
          <a:prstGeom prst="rect">
            <a:avLst/>
          </a:prstGeom>
          <a:noFill/>
        </p:spPr>
        <p:txBody>
          <a:bodyPr wrap="square">
            <a:spAutoFit/>
          </a:bodyPr>
          <a:lstStyle/>
          <a:p>
            <a:pPr algn="l"/>
            <a:r>
              <a:rPr sz="1300" b="0" i="0">
                <a:solidFill>
                  <a:srgbClr val="FFFFFF"/>
                </a:solidFill>
                <a:latin typeface="Segoe UI"/>
              </a:rPr>
              <a:t>Ninguna (solo CDN de Toastify JS)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716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71600"/>
            <a:ext cx="12188952" cy="73152"/>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82880"/>
            <a:ext cx="10972800" cy="822960"/>
          </a:xfrm>
          <a:prstGeom prst="rect">
            <a:avLst/>
          </a:prstGeom>
          <a:noFill/>
        </p:spPr>
        <p:txBody>
          <a:bodyPr wrap="square">
            <a:spAutoFit/>
          </a:bodyPr>
          <a:lstStyle/>
          <a:p>
            <a:pPr algn="l"/>
            <a:r>
              <a:rPr sz="3200" b="1" i="0">
                <a:solidFill>
                  <a:srgbClr val="FFFFFF"/>
                </a:solidFill>
                <a:latin typeface="Segoe UI"/>
              </a:rPr>
              <a:t>Demo — Flujo de la aplicación</a:t>
            </a:r>
          </a:p>
        </p:txBody>
      </p:sp>
      <p:sp>
        <p:nvSpPr>
          <p:cNvPr id="6" name="TextBox 5"/>
          <p:cNvSpPr txBox="1"/>
          <p:nvPr/>
        </p:nvSpPr>
        <p:spPr>
          <a:xfrm>
            <a:off x="457200" y="868680"/>
            <a:ext cx="10972800" cy="502920"/>
          </a:xfrm>
          <a:prstGeom prst="rect">
            <a:avLst/>
          </a:prstGeom>
          <a:noFill/>
        </p:spPr>
        <p:txBody>
          <a:bodyPr wrap="square">
            <a:spAutoFit/>
          </a:bodyPr>
          <a:lstStyle/>
          <a:p>
            <a:pPr algn="l"/>
            <a:r>
              <a:rPr sz="1500" b="0" i="0">
                <a:solidFill>
                  <a:srgbClr val="CCCCDD"/>
                </a:solidFill>
                <a:latin typeface="Segoe UI"/>
              </a:rPr>
              <a:t>Capturas del simulador en funcionamiento</a:t>
            </a:r>
          </a:p>
        </p:txBody>
      </p:sp>
      <p:sp>
        <p:nvSpPr>
          <p:cNvPr id="7" name="Rectangle 6"/>
          <p:cNvSpPr/>
          <p:nvPr/>
        </p:nvSpPr>
        <p:spPr>
          <a:xfrm>
            <a:off x="411480" y="1600200"/>
            <a:ext cx="3657600" cy="2194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600200"/>
            <a:ext cx="3657600" cy="54864"/>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691640"/>
            <a:ext cx="731520" cy="731520"/>
          </a:xfrm>
          <a:prstGeom prst="rect">
            <a:avLst/>
          </a:prstGeom>
          <a:noFill/>
        </p:spPr>
        <p:txBody>
          <a:bodyPr wrap="square">
            <a:spAutoFit/>
          </a:bodyPr>
          <a:lstStyle/>
          <a:p>
            <a:pPr algn="ctr"/>
            <a:r>
              <a:rPr sz="3200" b="0" i="0">
                <a:solidFill>
                  <a:srgbClr val="FFFFFF"/>
                </a:solidFill>
                <a:latin typeface="Segoe UI"/>
              </a:rPr>
              <a:t>🏪</a:t>
            </a:r>
          </a:p>
        </p:txBody>
      </p:sp>
      <p:sp>
        <p:nvSpPr>
          <p:cNvPr id="10" name="TextBox 9"/>
          <p:cNvSpPr txBox="1"/>
          <p:nvPr/>
        </p:nvSpPr>
        <p:spPr>
          <a:xfrm>
            <a:off x="1280160" y="1691640"/>
            <a:ext cx="2651760" cy="411480"/>
          </a:xfrm>
          <a:prstGeom prst="rect">
            <a:avLst/>
          </a:prstGeom>
          <a:noFill/>
        </p:spPr>
        <p:txBody>
          <a:bodyPr wrap="square">
            <a:spAutoFit/>
          </a:bodyPr>
          <a:lstStyle/>
          <a:p>
            <a:pPr algn="l"/>
            <a:r>
              <a:rPr sz="1600" b="1" i="0">
                <a:solidFill>
                  <a:srgbClr val="1A1A2E"/>
                </a:solidFill>
                <a:latin typeface="Segoe UI"/>
              </a:rPr>
              <a:t>Catálogo</a:t>
            </a:r>
          </a:p>
        </p:txBody>
      </p:sp>
      <p:sp>
        <p:nvSpPr>
          <p:cNvPr id="11" name="TextBox 10"/>
          <p:cNvSpPr txBox="1"/>
          <p:nvPr/>
        </p:nvSpPr>
        <p:spPr>
          <a:xfrm>
            <a:off x="548640" y="2194560"/>
            <a:ext cx="3383280" cy="1371600"/>
          </a:xfrm>
          <a:prstGeom prst="rect">
            <a:avLst/>
          </a:prstGeom>
          <a:noFill/>
        </p:spPr>
        <p:txBody>
          <a:bodyPr wrap="square">
            <a:spAutoFit/>
          </a:bodyPr>
          <a:lstStyle/>
          <a:p>
            <a:pPr algn="l"/>
            <a:r>
              <a:rPr sz="1200" b="0" i="0">
                <a:solidFill>
                  <a:srgbClr val="666666"/>
                </a:solidFill>
                <a:latin typeface="Segoe UI"/>
              </a:rPr>
              <a:t>Productos cargados
desde JSON vía Fetch.
Filtros por categoría.</a:t>
            </a:r>
          </a:p>
        </p:txBody>
      </p:sp>
      <p:sp>
        <p:nvSpPr>
          <p:cNvPr id="12" name="Rectangle 11"/>
          <p:cNvSpPr/>
          <p:nvPr/>
        </p:nvSpPr>
        <p:spPr>
          <a:xfrm>
            <a:off x="4315968" y="1600200"/>
            <a:ext cx="3657600" cy="2194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1600200"/>
            <a:ext cx="3657600" cy="54864"/>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07407" y="1691640"/>
            <a:ext cx="731520" cy="731520"/>
          </a:xfrm>
          <a:prstGeom prst="rect">
            <a:avLst/>
          </a:prstGeom>
          <a:noFill/>
        </p:spPr>
        <p:txBody>
          <a:bodyPr wrap="square">
            <a:spAutoFit/>
          </a:bodyPr>
          <a:lstStyle/>
          <a:p>
            <a:pPr algn="ctr"/>
            <a:r>
              <a:rPr sz="3200" b="0" i="0">
                <a:solidFill>
                  <a:srgbClr val="FFFFFF"/>
                </a:solidFill>
                <a:latin typeface="Segoe UI"/>
              </a:rPr>
              <a:t>🛒</a:t>
            </a:r>
          </a:p>
        </p:txBody>
      </p:sp>
      <p:sp>
        <p:nvSpPr>
          <p:cNvPr id="15" name="TextBox 14"/>
          <p:cNvSpPr txBox="1"/>
          <p:nvPr/>
        </p:nvSpPr>
        <p:spPr>
          <a:xfrm>
            <a:off x="5184648" y="1691640"/>
            <a:ext cx="2651760" cy="411480"/>
          </a:xfrm>
          <a:prstGeom prst="rect">
            <a:avLst/>
          </a:prstGeom>
          <a:noFill/>
        </p:spPr>
        <p:txBody>
          <a:bodyPr wrap="square">
            <a:spAutoFit/>
          </a:bodyPr>
          <a:lstStyle/>
          <a:p>
            <a:pPr algn="l"/>
            <a:r>
              <a:rPr sz="1600" b="1" i="0">
                <a:solidFill>
                  <a:srgbClr val="1A1A2E"/>
                </a:solidFill>
                <a:latin typeface="Segoe UI"/>
              </a:rPr>
              <a:t>Carrito</a:t>
            </a:r>
          </a:p>
        </p:txBody>
      </p:sp>
      <p:sp>
        <p:nvSpPr>
          <p:cNvPr id="16" name="TextBox 15"/>
          <p:cNvSpPr txBox="1"/>
          <p:nvPr/>
        </p:nvSpPr>
        <p:spPr>
          <a:xfrm>
            <a:off x="4453128" y="2194560"/>
            <a:ext cx="3383280" cy="1371600"/>
          </a:xfrm>
          <a:prstGeom prst="rect">
            <a:avLst/>
          </a:prstGeom>
          <a:noFill/>
        </p:spPr>
        <p:txBody>
          <a:bodyPr wrap="square">
            <a:spAutoFit/>
          </a:bodyPr>
          <a:lstStyle/>
          <a:p>
            <a:pPr algn="l"/>
            <a:r>
              <a:rPr sz="1200" b="0" i="0">
                <a:solidFill>
                  <a:srgbClr val="666666"/>
                </a:solidFill>
                <a:latin typeface="Segoe UI"/>
              </a:rPr>
              <a:t>Panel lateral
deslizante con
animación CSS.</a:t>
            </a:r>
          </a:p>
        </p:txBody>
      </p:sp>
      <p:sp>
        <p:nvSpPr>
          <p:cNvPr id="17" name="Rectangle 16"/>
          <p:cNvSpPr/>
          <p:nvPr/>
        </p:nvSpPr>
        <p:spPr>
          <a:xfrm>
            <a:off x="8220455" y="1600200"/>
            <a:ext cx="3657600" cy="2194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20455" y="1600200"/>
            <a:ext cx="3657600" cy="54864"/>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11895" y="1691640"/>
            <a:ext cx="731520" cy="731520"/>
          </a:xfrm>
          <a:prstGeom prst="rect">
            <a:avLst/>
          </a:prstGeom>
          <a:noFill/>
        </p:spPr>
        <p:txBody>
          <a:bodyPr wrap="square">
            <a:spAutoFit/>
          </a:bodyPr>
          <a:lstStyle/>
          <a:p>
            <a:pPr algn="ctr"/>
            <a:r>
              <a:rPr sz="3200" b="0" i="0">
                <a:solidFill>
                  <a:srgbClr val="FFFFFF"/>
                </a:solidFill>
                <a:latin typeface="Segoe UI"/>
              </a:rPr>
              <a:t>📋</a:t>
            </a:r>
          </a:p>
        </p:txBody>
      </p:sp>
      <p:sp>
        <p:nvSpPr>
          <p:cNvPr id="20" name="TextBox 19"/>
          <p:cNvSpPr txBox="1"/>
          <p:nvPr/>
        </p:nvSpPr>
        <p:spPr>
          <a:xfrm>
            <a:off x="9089135" y="1691640"/>
            <a:ext cx="2651760" cy="411480"/>
          </a:xfrm>
          <a:prstGeom prst="rect">
            <a:avLst/>
          </a:prstGeom>
          <a:noFill/>
        </p:spPr>
        <p:txBody>
          <a:bodyPr wrap="square">
            <a:spAutoFit/>
          </a:bodyPr>
          <a:lstStyle/>
          <a:p>
            <a:pPr algn="l"/>
            <a:r>
              <a:rPr sz="1600" b="1" i="0">
                <a:solidFill>
                  <a:srgbClr val="1A1A2E"/>
                </a:solidFill>
                <a:latin typeface="Segoe UI"/>
              </a:rPr>
              <a:t>Datos</a:t>
            </a:r>
          </a:p>
        </p:txBody>
      </p:sp>
      <p:sp>
        <p:nvSpPr>
          <p:cNvPr id="21" name="TextBox 20"/>
          <p:cNvSpPr txBox="1"/>
          <p:nvPr/>
        </p:nvSpPr>
        <p:spPr>
          <a:xfrm>
            <a:off x="8357615" y="2194560"/>
            <a:ext cx="3383280" cy="1371600"/>
          </a:xfrm>
          <a:prstGeom prst="rect">
            <a:avLst/>
          </a:prstGeom>
          <a:noFill/>
        </p:spPr>
        <p:txBody>
          <a:bodyPr wrap="square">
            <a:spAutoFit/>
          </a:bodyPr>
          <a:lstStyle/>
          <a:p>
            <a:pPr algn="l"/>
            <a:r>
              <a:rPr sz="1200" b="0" i="0">
                <a:solidFill>
                  <a:srgbClr val="666666"/>
                </a:solidFill>
                <a:latin typeface="Segoe UI"/>
              </a:rPr>
              <a:t>Formulario con
validación en
tiempo real.</a:t>
            </a:r>
          </a:p>
        </p:txBody>
      </p:sp>
      <p:sp>
        <p:nvSpPr>
          <p:cNvPr id="22" name="Rectangle 21"/>
          <p:cNvSpPr/>
          <p:nvPr/>
        </p:nvSpPr>
        <p:spPr>
          <a:xfrm>
            <a:off x="411480" y="4114800"/>
            <a:ext cx="3657600" cy="2194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11480" y="4114800"/>
            <a:ext cx="3657600" cy="54864"/>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4206240"/>
            <a:ext cx="731520" cy="731520"/>
          </a:xfrm>
          <a:prstGeom prst="rect">
            <a:avLst/>
          </a:prstGeom>
          <a:noFill/>
        </p:spPr>
        <p:txBody>
          <a:bodyPr wrap="square">
            <a:spAutoFit/>
          </a:bodyPr>
          <a:lstStyle/>
          <a:p>
            <a:pPr algn="ctr"/>
            <a:r>
              <a:rPr sz="3200" b="0" i="0">
                <a:solidFill>
                  <a:srgbClr val="FFFFFF"/>
                </a:solidFill>
                <a:latin typeface="Segoe UI"/>
              </a:rPr>
              <a:t>💳</a:t>
            </a:r>
          </a:p>
        </p:txBody>
      </p:sp>
      <p:sp>
        <p:nvSpPr>
          <p:cNvPr id="25" name="TextBox 24"/>
          <p:cNvSpPr txBox="1"/>
          <p:nvPr/>
        </p:nvSpPr>
        <p:spPr>
          <a:xfrm>
            <a:off x="1280160" y="4206240"/>
            <a:ext cx="2651760" cy="411480"/>
          </a:xfrm>
          <a:prstGeom prst="rect">
            <a:avLst/>
          </a:prstGeom>
          <a:noFill/>
        </p:spPr>
        <p:txBody>
          <a:bodyPr wrap="square">
            <a:spAutoFit/>
          </a:bodyPr>
          <a:lstStyle/>
          <a:p>
            <a:pPr algn="l"/>
            <a:r>
              <a:rPr sz="1600" b="1" i="0">
                <a:solidFill>
                  <a:srgbClr val="1A1A2E"/>
                </a:solidFill>
                <a:latin typeface="Segoe UI"/>
              </a:rPr>
              <a:t>Pago</a:t>
            </a:r>
          </a:p>
        </p:txBody>
      </p:sp>
      <p:sp>
        <p:nvSpPr>
          <p:cNvPr id="26" name="TextBox 25"/>
          <p:cNvSpPr txBox="1"/>
          <p:nvPr/>
        </p:nvSpPr>
        <p:spPr>
          <a:xfrm>
            <a:off x="548640" y="4709160"/>
            <a:ext cx="3383280" cy="1371600"/>
          </a:xfrm>
          <a:prstGeom prst="rect">
            <a:avLst/>
          </a:prstGeom>
          <a:noFill/>
        </p:spPr>
        <p:txBody>
          <a:bodyPr wrap="square">
            <a:spAutoFit/>
          </a:bodyPr>
          <a:lstStyle/>
          <a:p>
            <a:pPr algn="l"/>
            <a:r>
              <a:rPr sz="1200" b="0" i="0">
                <a:solidFill>
                  <a:srgbClr val="666666"/>
                </a:solidFill>
                <a:latin typeface="Segoe UI"/>
              </a:rPr>
              <a:t>4 métodos de pago.
Campos de tarjeta
dinámicos.</a:t>
            </a:r>
          </a:p>
        </p:txBody>
      </p:sp>
      <p:sp>
        <p:nvSpPr>
          <p:cNvPr id="27" name="Rectangle 26"/>
          <p:cNvSpPr/>
          <p:nvPr/>
        </p:nvSpPr>
        <p:spPr>
          <a:xfrm>
            <a:off x="4315968" y="4114800"/>
            <a:ext cx="3657600" cy="2194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315968" y="4114800"/>
            <a:ext cx="3657600" cy="54864"/>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07407" y="4206240"/>
            <a:ext cx="731520" cy="731520"/>
          </a:xfrm>
          <a:prstGeom prst="rect">
            <a:avLst/>
          </a:prstGeom>
          <a:noFill/>
        </p:spPr>
        <p:txBody>
          <a:bodyPr wrap="square">
            <a:spAutoFit/>
          </a:bodyPr>
          <a:lstStyle/>
          <a:p>
            <a:pPr algn="ctr"/>
            <a:r>
              <a:rPr sz="3200" b="0" i="0">
                <a:solidFill>
                  <a:srgbClr val="FFFFFF"/>
                </a:solidFill>
                <a:latin typeface="Segoe UI"/>
              </a:rPr>
              <a:t>✅</a:t>
            </a:r>
          </a:p>
        </p:txBody>
      </p:sp>
      <p:sp>
        <p:nvSpPr>
          <p:cNvPr id="30" name="TextBox 29"/>
          <p:cNvSpPr txBox="1"/>
          <p:nvPr/>
        </p:nvSpPr>
        <p:spPr>
          <a:xfrm>
            <a:off x="5184648" y="4206240"/>
            <a:ext cx="2651760" cy="411480"/>
          </a:xfrm>
          <a:prstGeom prst="rect">
            <a:avLst/>
          </a:prstGeom>
          <a:noFill/>
        </p:spPr>
        <p:txBody>
          <a:bodyPr wrap="square">
            <a:spAutoFit/>
          </a:bodyPr>
          <a:lstStyle/>
          <a:p>
            <a:pPr algn="l"/>
            <a:r>
              <a:rPr sz="1600" b="1" i="0">
                <a:solidFill>
                  <a:srgbClr val="1A1A2E"/>
                </a:solidFill>
                <a:latin typeface="Segoe UI"/>
              </a:rPr>
              <a:t>Confirmación</a:t>
            </a:r>
          </a:p>
        </p:txBody>
      </p:sp>
      <p:sp>
        <p:nvSpPr>
          <p:cNvPr id="31" name="TextBox 30"/>
          <p:cNvSpPr txBox="1"/>
          <p:nvPr/>
        </p:nvSpPr>
        <p:spPr>
          <a:xfrm>
            <a:off x="4453128" y="4709160"/>
            <a:ext cx="3383280" cy="1371600"/>
          </a:xfrm>
          <a:prstGeom prst="rect">
            <a:avLst/>
          </a:prstGeom>
          <a:noFill/>
        </p:spPr>
        <p:txBody>
          <a:bodyPr wrap="square">
            <a:spAutoFit/>
          </a:bodyPr>
          <a:lstStyle/>
          <a:p>
            <a:pPr algn="l"/>
            <a:r>
              <a:rPr sz="1200" b="0" i="0">
                <a:solidFill>
                  <a:srgbClr val="666666"/>
                </a:solidFill>
                <a:latin typeface="Segoe UI"/>
              </a:rPr>
              <a:t>Resumen completo
del pedido antes
de confirmar.</a:t>
            </a:r>
          </a:p>
        </p:txBody>
      </p:sp>
      <p:sp>
        <p:nvSpPr>
          <p:cNvPr id="32" name="Rectangle 31"/>
          <p:cNvSpPr/>
          <p:nvPr/>
        </p:nvSpPr>
        <p:spPr>
          <a:xfrm>
            <a:off x="8220455" y="4114800"/>
            <a:ext cx="3657600" cy="2194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220455" y="4114800"/>
            <a:ext cx="3657600" cy="54864"/>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11895" y="4206240"/>
            <a:ext cx="731520" cy="731520"/>
          </a:xfrm>
          <a:prstGeom prst="rect">
            <a:avLst/>
          </a:prstGeom>
          <a:noFill/>
        </p:spPr>
        <p:txBody>
          <a:bodyPr wrap="square">
            <a:spAutoFit/>
          </a:bodyPr>
          <a:lstStyle/>
          <a:p>
            <a:pPr algn="ctr"/>
            <a:r>
              <a:rPr sz="3200" b="0" i="0">
                <a:solidFill>
                  <a:srgbClr val="FFFFFF"/>
                </a:solidFill>
                <a:latin typeface="Segoe UI"/>
              </a:rPr>
              <a:t>🎉</a:t>
            </a:r>
          </a:p>
        </p:txBody>
      </p:sp>
      <p:sp>
        <p:nvSpPr>
          <p:cNvPr id="35" name="TextBox 34"/>
          <p:cNvSpPr txBox="1"/>
          <p:nvPr/>
        </p:nvSpPr>
        <p:spPr>
          <a:xfrm>
            <a:off x="9089135" y="4206240"/>
            <a:ext cx="2651760" cy="411480"/>
          </a:xfrm>
          <a:prstGeom prst="rect">
            <a:avLst/>
          </a:prstGeom>
          <a:noFill/>
        </p:spPr>
        <p:txBody>
          <a:bodyPr wrap="square">
            <a:spAutoFit/>
          </a:bodyPr>
          <a:lstStyle/>
          <a:p>
            <a:pPr algn="l"/>
            <a:r>
              <a:rPr sz="1600" b="1" i="0">
                <a:solidFill>
                  <a:srgbClr val="1A1A2E"/>
                </a:solidFill>
                <a:latin typeface="Segoe UI"/>
              </a:rPr>
              <a:t>Éxito</a:t>
            </a:r>
          </a:p>
        </p:txBody>
      </p:sp>
      <p:sp>
        <p:nvSpPr>
          <p:cNvPr id="36" name="TextBox 35"/>
          <p:cNvSpPr txBox="1"/>
          <p:nvPr/>
        </p:nvSpPr>
        <p:spPr>
          <a:xfrm>
            <a:off x="8357615" y="4709160"/>
            <a:ext cx="3383280" cy="1371600"/>
          </a:xfrm>
          <a:prstGeom prst="rect">
            <a:avLst/>
          </a:prstGeom>
          <a:noFill/>
        </p:spPr>
        <p:txBody>
          <a:bodyPr wrap="square">
            <a:spAutoFit/>
          </a:bodyPr>
          <a:lstStyle/>
          <a:p>
            <a:pPr algn="l"/>
            <a:r>
              <a:rPr sz="1200" b="0" i="0">
                <a:solidFill>
                  <a:srgbClr val="666666"/>
                </a:solidFill>
                <a:latin typeface="Segoe UI"/>
              </a:rPr>
              <a:t>Mensaje final con
nombre y dirección
del cliente.</a:t>
            </a:r>
          </a:p>
        </p:txBody>
      </p:sp>
      <p:sp>
        <p:nvSpPr>
          <p:cNvPr id="37" name="TextBox 36"/>
          <p:cNvSpPr txBox="1"/>
          <p:nvPr/>
        </p:nvSpPr>
        <p:spPr>
          <a:xfrm>
            <a:off x="411480" y="6492240"/>
            <a:ext cx="11430000" cy="365760"/>
          </a:xfrm>
          <a:prstGeom prst="rect">
            <a:avLst/>
          </a:prstGeom>
          <a:noFill/>
        </p:spPr>
        <p:txBody>
          <a:bodyPr wrap="square">
            <a:spAutoFit/>
          </a:bodyPr>
          <a:lstStyle/>
          <a:p>
            <a:pPr algn="l"/>
            <a:r>
              <a:rPr sz="1100" b="0" i="1">
                <a:solidFill>
                  <a:srgbClr val="8888AA"/>
                </a:solidFill>
                <a:latin typeface="Segoe UI"/>
              </a:rPr>
              <a:t>💡  Agregar capturas de pantalla reales sobre cada tarjeta antes de entregar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 y="0"/>
            <a:ext cx="12024360" cy="9144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548640"/>
            <a:ext cx="10058400" cy="914400"/>
          </a:xfrm>
          <a:prstGeom prst="rect">
            <a:avLst/>
          </a:prstGeom>
          <a:noFill/>
        </p:spPr>
        <p:txBody>
          <a:bodyPr wrap="square">
            <a:spAutoFit/>
          </a:bodyPr>
          <a:lstStyle/>
          <a:p>
            <a:pPr algn="l"/>
            <a:r>
              <a:rPr sz="4200" b="1" i="0">
                <a:solidFill>
                  <a:srgbClr val="FFFFFF"/>
                </a:solidFill>
                <a:latin typeface="Segoe UI"/>
              </a:rPr>
              <a:t>Reflexión Final</a:t>
            </a:r>
          </a:p>
        </p:txBody>
      </p:sp>
      <p:sp>
        <p:nvSpPr>
          <p:cNvPr id="6" name="Rectangle 5"/>
          <p:cNvSpPr/>
          <p:nvPr/>
        </p:nvSpPr>
        <p:spPr>
          <a:xfrm>
            <a:off x="914400" y="1508760"/>
            <a:ext cx="5486400" cy="73152"/>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4400" y="1920240"/>
            <a:ext cx="10058400" cy="411480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8720" y="3108960"/>
            <a:ext cx="9601200" cy="822960"/>
          </a:xfrm>
          <a:prstGeom prst="rect">
            <a:avLst/>
          </a:prstGeom>
          <a:noFill/>
        </p:spPr>
        <p:txBody>
          <a:bodyPr wrap="square">
            <a:spAutoFit/>
          </a:bodyPr>
          <a:lstStyle/>
          <a:p>
            <a:pPr algn="ctr"/>
            <a:r>
              <a:rPr sz="2200" b="1" i="0">
                <a:solidFill>
                  <a:srgbClr val="FFDD57"/>
                </a:solidFill>
                <a:latin typeface="Segoe UI"/>
              </a:rPr>
              <a:t>✏  Esta sección se completa próximamente</a:t>
            </a:r>
          </a:p>
        </p:txBody>
      </p:sp>
      <p:sp>
        <p:nvSpPr>
          <p:cNvPr id="9" name="TextBox 8"/>
          <p:cNvSpPr txBox="1"/>
          <p:nvPr/>
        </p:nvSpPr>
        <p:spPr>
          <a:xfrm>
            <a:off x="1188720" y="3749039"/>
            <a:ext cx="9601200" cy="1828800"/>
          </a:xfrm>
          <a:prstGeom prst="rect">
            <a:avLst/>
          </a:prstGeom>
          <a:noFill/>
        </p:spPr>
        <p:txBody>
          <a:bodyPr wrap="square">
            <a:spAutoFit/>
          </a:bodyPr>
          <a:lstStyle/>
          <a:p>
            <a:pPr algn="ctr"/>
            <a:r>
              <a:rPr sz="1600" b="0" i="0">
                <a:solidFill>
                  <a:srgbClr val="CCDDFF"/>
                </a:solidFill>
                <a:latin typeface="Segoe UI"/>
              </a:rPr>
              <a:t>Pendiente de redacción.
Aquí irá la reflexión sobre el proceso de aprendizaje,
los desafíos encontrados y los conocimientos adquiridos.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